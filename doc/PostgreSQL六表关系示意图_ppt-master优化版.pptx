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 snapToObjects="1">
      <p:cViewPr varScale="1">
        <p:scale>
          <a:sx n="114" d="100"/>
          <a:sy n="114" d="100"/>
        </p:scale>
        <p:origin x="496" y="-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290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六张表可以理解为两条在用户域中汇合的数据链。第一条是知识库与文件链，文件通过桥接表被多个知识库复用；第二条是会话与消息链，会话绑定知识库并持续追加消息。需要特别注意，原始建表语句没有声明外键，因此图中的关系来自字段命名、类型和业务语义，跨表完整性仍由应用层负责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总览进入具体功能，注册首先写入用户，再初始化默认知识库。用户名唯一约束负责阻止重复账户，密码只保存安全哈希；用户主键生成后，作为默认知识库的所有者标识。建议把这两次写入放在同一事务中，避免出现用户已创建、默认知识库却初始化失败的中间状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注册完成后，一次聊天沿着固定的数据路径落库。系统先鉴权用户，再选择知识库作为检索边界，随后创建或继续会话，并把用户与助手消息按角色持续追加。这里的知识库标识负责限定检索范围，但具体向量检索实现位于这六张 PostgreSQL 表之外。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库与文件之间不是简单的一对多，而是通过桥接表形成多对多关系。复合主键防止同一文件重复加入同一个知识库，而用户标识与文件哈希的部分唯一索引负责内容去重。知识库和文件采用软删除，但桥接表没有软删除字段，因此解绑关系需要直接删除对应关联记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关注知识库如何约束会话上下文。会话中的知识库标识不能为空，两个索引分别优化按知识库查询和按用户加知识库查询活跃会话。然而索引只解决查询效率，不能保证会话和知识库属于同一用户，也不能排除已软删除的知识库，这些一致性检查必须在应用层完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把会话与消息放到交互时序中观察。用户消息和助手消息都会写入同一个会话，角色字段标识发送方，正文保存在内容字段中；每轮交互完成后，应用层还应刷新会话更新时间。读取历史消息时，按创建时间和主键排序可以在时间相同的情况下仍然得到稳定顺序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400050" y="-809625"/>
            <a:ext cx="13211175" cy="8667750"/>
            <a:chOff x="-400050" y="-809625"/>
            <a:chExt cx="13211175" cy="8667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8111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Ellipse 4"/>
            <p:cNvSpPr/>
            <p:nvPr/>
          </p:nvSpPr>
          <p:spPr>
            <a:xfrm>
              <a:off x="9572625" y="-809625"/>
              <a:ext cx="3238500" cy="3238500"/>
            </a:xfrm>
            <a:prstGeom prst="ellipse">
              <a:avLst/>
            </a:prstGeom>
            <a:solidFill>
              <a:srgbClr val="7C9CFF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Ellipse 5"/>
            <p:cNvSpPr/>
            <p:nvPr/>
          </p:nvSpPr>
          <p:spPr>
            <a:xfrm>
              <a:off x="-400050" y="5000625"/>
              <a:ext cx="2857500" cy="2857500"/>
            </a:xfrm>
            <a:prstGeom prst="ellipse">
              <a:avLst/>
            </a:prstGeom>
            <a:solidFill>
              <a:srgbClr val="42D6C7">
                <a:alpha val="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9110" y="321945"/>
            <a:ext cx="11169015" cy="906780"/>
            <a:chOff x="499110" y="321945"/>
            <a:chExt cx="11169015" cy="90678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321945"/>
              <a:ext cx="16232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POSTGRESQL · DATA MODEL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97281" y="338138"/>
              <a:ext cx="37084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01 / 06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9110" y="508635"/>
              <a:ext cx="61173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5F7FA"/>
                  </a:solidFill>
                  <a:latin typeface="Arial Black"/>
                  <a:ea typeface="SimHei"/>
                  <a:cs typeface="Arial Black"/>
                </a:rPr>
                <a:t>六表总览：两条数据链在用户域汇合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6255" y="921068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知识库复用文件，会话绑定知识库并持续累积消息。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33400" y="1219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476500" y="1685925"/>
            <a:ext cx="3714750" cy="3114675"/>
            <a:chOff x="2476500" y="1685925"/>
            <a:chExt cx="3714750" cy="3114675"/>
          </a:xfrm>
        </p:grpSpPr>
        <p:sp>
          <p:nvSpPr>
            <p:cNvPr id="13" name="Freeform 13"/>
            <p:cNvSpPr/>
            <p:nvPr/>
          </p:nvSpPr>
          <p:spPr>
            <a:xfrm>
              <a:off x="2476500" y="2247900"/>
              <a:ext cx="762000" cy="990600"/>
            </a:xfrm>
            <a:custGeom>
              <a:avLst/>
              <a:gdLst/>
              <a:ahLst/>
              <a:cxnLst/>
              <a:rect l="l" t="t" r="r" b="b"/>
              <a:pathLst>
                <a:path w="762000" h="990600">
                  <a:moveTo>
                    <a:pt x="0" y="990600"/>
                  </a:moveTo>
                  <a:cubicBezTo>
                    <a:pt x="381000" y="990600"/>
                    <a:pt x="381000" y="0"/>
                    <a:pt x="762000" y="0"/>
                  </a:cubicBezTo>
                </a:path>
              </a:pathLst>
            </a:custGeom>
            <a:noFill/>
            <a:ln w="23812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476500" y="3429000"/>
              <a:ext cx="762000" cy="1371600"/>
            </a:xfrm>
            <a:custGeom>
              <a:avLst/>
              <a:gdLst/>
              <a:ahLst/>
              <a:cxnLst/>
              <a:rect l="l" t="t" r="r" b="b"/>
              <a:pathLst>
                <a:path w="762000" h="1371600">
                  <a:moveTo>
                    <a:pt x="0" y="0"/>
                  </a:moveTo>
                  <a:cubicBezTo>
                    <a:pt x="381000" y="0"/>
                    <a:pt x="381000" y="1371600"/>
                    <a:pt x="762000" y="1371600"/>
                  </a:cubicBezTo>
                </a:path>
              </a:pathLst>
            </a:custGeom>
            <a:noFill/>
            <a:ln w="23812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476500" y="2095500"/>
              <a:ext cx="3714750" cy="952500"/>
            </a:xfrm>
            <a:custGeom>
              <a:avLst/>
              <a:gdLst/>
              <a:ahLst/>
              <a:cxnLst/>
              <a:rect l="l" t="t" r="r" b="b"/>
              <a:pathLst>
                <a:path w="3714750" h="952500">
                  <a:moveTo>
                    <a:pt x="0" y="952500"/>
                  </a:moveTo>
                  <a:cubicBezTo>
                    <a:pt x="381000" y="628650"/>
                    <a:pt x="3352800" y="0"/>
                    <a:pt x="3714750" y="0"/>
                  </a:cubicBezTo>
                </a:path>
              </a:pathLst>
            </a:custGeom>
            <a:noFill/>
            <a:ln w="23812">
              <a:solidFill>
                <a:srgbClr val="7C9CFF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28900" y="2295525"/>
              <a:ext cx="600075" cy="228600"/>
            </a:xfrm>
            <a:prstGeom prst="roundRect">
              <a:avLst>
                <a:gd name="adj" fmla="val 50000"/>
              </a:avLst>
            </a:prstGeom>
            <a:solidFill>
              <a:srgbClr val="42D6C7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75740" y="2360295"/>
              <a:ext cx="306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1 : 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628900" y="4248150"/>
              <a:ext cx="600075" cy="228600"/>
            </a:xfrm>
            <a:prstGeom prst="roundRect">
              <a:avLst>
                <a:gd name="adj" fmla="val 50000"/>
              </a:avLst>
            </a:prstGeom>
            <a:solidFill>
              <a:srgbClr val="42D6C7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75740" y="4312920"/>
              <a:ext cx="306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1 : 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48150" y="1685925"/>
              <a:ext cx="685800" cy="228600"/>
            </a:xfrm>
            <a:prstGeom prst="roundRect">
              <a:avLst>
                <a:gd name="adj" fmla="val 50000"/>
              </a:avLst>
            </a:prstGeom>
            <a:solidFill>
              <a:srgbClr val="7C9CFF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01573" y="1750695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9CFF"/>
                  </a:solidFill>
                  <a:latin typeface="Arial"/>
                  <a:ea typeface="Microsoft YaHei"/>
                  <a:cs typeface="Arial"/>
                </a:rPr>
                <a:t>用户拥有会话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" y="2571750"/>
            <a:ext cx="1943100" cy="1828800"/>
            <a:chOff x="533400" y="2571750"/>
            <a:chExt cx="1943100" cy="1828800"/>
          </a:xfrm>
        </p:grpSpPr>
        <p:sp>
          <p:nvSpPr>
            <p:cNvPr id="23" name="Rectangle 23"/>
            <p:cNvSpPr/>
            <p:nvPr/>
          </p:nvSpPr>
          <p:spPr>
            <a:xfrm>
              <a:off x="533400" y="2571750"/>
              <a:ext cx="1943100" cy="1828800"/>
            </a:xfrm>
            <a:prstGeom prst="roundRect">
              <a:avLst>
                <a:gd name="adj" fmla="val 6250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571750"/>
              <a:ext cx="57150" cy="1828800"/>
            </a:xfrm>
            <a:prstGeom prst="roundRect">
              <a:avLst>
                <a:gd name="adj" fmla="val 50000"/>
              </a:avLst>
            </a:prstGeom>
            <a:solidFill>
              <a:srgbClr val="F6B94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766762" y="2774156"/>
              <a:ext cx="123825" cy="185737"/>
              <a:chOff x="766762" y="2774156"/>
              <a:chExt cx="123825" cy="18573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87400" y="2774156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766762" y="2897981"/>
                <a:ext cx="1238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61912">
                    <a:moveTo>
                      <a:pt x="0" y="61912"/>
                    </a:move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lnTo>
                      <a:pt x="82550" y="0"/>
                    </a:lnTo>
                    <a:cubicBezTo>
                      <a:pt x="105346" y="0"/>
                      <a:pt x="123825" y="18479"/>
                      <a:pt x="123825" y="41275"/>
                    </a:cubicBezTo>
                    <a:lnTo>
                      <a:pt x="123825" y="61912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032510" y="2794635"/>
              <a:ext cx="492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users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3420" y="30841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用户账户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85800" y="3228975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1515" y="3296602"/>
              <a:ext cx="151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id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89557" y="33127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bigserial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80011" y="350043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PK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85800" y="3629025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1515" y="3696652"/>
              <a:ext cx="702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username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29587" y="3712845"/>
              <a:ext cx="286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text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59008" y="3900488"/>
              <a:ext cx="15556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UQ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85800" y="4029075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1515" y="4096702"/>
              <a:ext cx="1107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password_hash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29587" y="4112895"/>
              <a:ext cx="286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text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238500" y="1485900"/>
            <a:ext cx="2247900" cy="2138362"/>
            <a:chOff x="3238500" y="1485900"/>
            <a:chExt cx="2247900" cy="2138362"/>
          </a:xfrm>
        </p:grpSpPr>
        <p:sp>
          <p:nvSpPr>
            <p:cNvPr id="42" name="Rectangle 42"/>
            <p:cNvSpPr/>
            <p:nvPr/>
          </p:nvSpPr>
          <p:spPr>
            <a:xfrm>
              <a:off x="3238500" y="1485900"/>
              <a:ext cx="2247900" cy="2038350"/>
            </a:xfrm>
            <a:prstGeom prst="roundRect">
              <a:avLst>
                <a:gd name="adj" fmla="val 5607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238500" y="14859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3451225" y="1688306"/>
              <a:ext cx="165100" cy="185738"/>
              <a:chOff x="3451225" y="1688306"/>
              <a:chExt cx="165100" cy="18573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3451225" y="1688306"/>
                <a:ext cx="165100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100" y="48053"/>
                      <a:pt x="165100" y="30956"/>
                    </a:cubicBezTo>
                    <a:cubicBezTo>
                      <a:pt x="165100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3451225" y="1719262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3451225" y="1781175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3737610" y="1708785"/>
              <a:ext cx="14082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knowledge_bases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98520" y="1998345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知识库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3390900" y="214312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96615" y="2210752"/>
              <a:ext cx="151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id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69491" y="2226945"/>
              <a:ext cx="2568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uuid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89911" y="241458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PK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3390900" y="254317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396615" y="261080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user_id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67478" y="262699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bigint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132153" y="2814638"/>
              <a:ext cx="1923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FK*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3390900" y="294322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396615" y="30108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is_default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871466" y="3027045"/>
              <a:ext cx="4549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boolean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3390900" y="334327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396615" y="3410902"/>
              <a:ext cx="798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deleted_at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59427" y="342709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timestamptz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3238500" y="3867150"/>
            <a:ext cx="2247900" cy="2138362"/>
            <a:chOff x="3238500" y="3867150"/>
            <a:chExt cx="2247900" cy="2138362"/>
          </a:xfrm>
        </p:grpSpPr>
        <p:sp>
          <p:nvSpPr>
            <p:cNvPr id="65" name="Rectangle 65"/>
            <p:cNvSpPr/>
            <p:nvPr/>
          </p:nvSpPr>
          <p:spPr>
            <a:xfrm>
              <a:off x="3238500" y="3867150"/>
              <a:ext cx="2247900" cy="2038350"/>
            </a:xfrm>
            <a:prstGeom prst="roundRect">
              <a:avLst>
                <a:gd name="adj" fmla="val 5607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238500" y="386715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3461544" y="4069556"/>
              <a:ext cx="154781" cy="185738"/>
              <a:chOff x="3461544" y="4069556"/>
              <a:chExt cx="154781" cy="185738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3564731" y="406955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3502819" y="4069556"/>
                <a:ext cx="113506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144463">
                    <a:moveTo>
                      <a:pt x="92869" y="144463"/>
                    </a:moveTo>
                    <a:lnTo>
                      <a:pt x="20638" y="144463"/>
                    </a:lnTo>
                    <a:cubicBezTo>
                      <a:pt x="9240" y="144463"/>
                      <a:pt x="0" y="135223"/>
                      <a:pt x="0" y="123825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8" y="0"/>
                    </a:cubicBezTo>
                    <a:lnTo>
                      <a:pt x="61912" y="0"/>
                    </a:lnTo>
                    <a:lnTo>
                      <a:pt x="113506" y="51594"/>
                    </a:lnTo>
                    <a:lnTo>
                      <a:pt x="113506" y="123825"/>
                    </a:lnTo>
                    <a:cubicBezTo>
                      <a:pt x="113506" y="135223"/>
                      <a:pt x="104267" y="144463"/>
                      <a:pt x="92869" y="144463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3461544" y="4110831"/>
                <a:ext cx="113506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144463">
                    <a:moveTo>
                      <a:pt x="113506" y="103188"/>
                    </a:moveTo>
                    <a:lnTo>
                      <a:pt x="113506" y="123825"/>
                    </a:lnTo>
                    <a:cubicBezTo>
                      <a:pt x="113506" y="135223"/>
                      <a:pt x="104267" y="144463"/>
                      <a:pt x="92869" y="144463"/>
                    </a:cubicBezTo>
                    <a:lnTo>
                      <a:pt x="20637" y="144463"/>
                    </a:lnTo>
                    <a:cubicBezTo>
                      <a:pt x="9240" y="144463"/>
                      <a:pt x="0" y="135223"/>
                      <a:pt x="0" y="123825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" name="TextBox 71"/>
            <p:cNvSpPr txBox="1"/>
            <p:nvPr/>
          </p:nvSpPr>
          <p:spPr>
            <a:xfrm>
              <a:off x="3737610" y="4090035"/>
              <a:ext cx="1324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knowledge_files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398520" y="43795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知识文件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3390900" y="452437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396615" y="4592002"/>
              <a:ext cx="151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id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069491" y="4608195"/>
              <a:ext cx="2568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uuid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189911" y="479583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PK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3390900" y="492442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396615" y="499205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user_id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967478" y="50082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bigint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132153" y="5195888"/>
              <a:ext cx="1923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FK*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3390900" y="532447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396615" y="5392102"/>
              <a:ext cx="6809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file_hash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039487" y="5408295"/>
              <a:ext cx="286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text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168908" y="5595938"/>
              <a:ext cx="15556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UQ</a:t>
              </a:r>
            </a:p>
          </p:txBody>
        </p:sp>
        <p:sp>
          <p:nvSpPr>
            <p:cNvPr id="85" name="Line 85"/>
            <p:cNvSpPr/>
            <p:nvPr/>
          </p:nvSpPr>
          <p:spPr>
            <a:xfrm>
              <a:off x="3390900" y="572452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396615" y="5792152"/>
              <a:ext cx="798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deleted_at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559427" y="580834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timestamptz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6191250" y="1485900"/>
            <a:ext cx="2247900" cy="2138362"/>
            <a:chOff x="6191250" y="1485900"/>
            <a:chExt cx="2247900" cy="2138362"/>
          </a:xfrm>
        </p:grpSpPr>
        <p:sp>
          <p:nvSpPr>
            <p:cNvPr id="89" name="Rectangle 89"/>
            <p:cNvSpPr/>
            <p:nvPr/>
          </p:nvSpPr>
          <p:spPr>
            <a:xfrm>
              <a:off x="6191250" y="1485900"/>
              <a:ext cx="2247900" cy="2038350"/>
            </a:xfrm>
            <a:prstGeom prst="roundRect">
              <a:avLst>
                <a:gd name="adj" fmla="val 5607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191250" y="14859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7C9C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3" name="Group 93"/>
            <p:cNvGrpSpPr/>
            <p:nvPr/>
          </p:nvGrpSpPr>
          <p:grpSpPr>
            <a:xfrm>
              <a:off x="6393656" y="1688306"/>
              <a:ext cx="185738" cy="185738"/>
              <a:chOff x="6393656" y="1688306"/>
              <a:chExt cx="185738" cy="185738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6465888" y="1688306"/>
                <a:ext cx="113506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113506">
                    <a:moveTo>
                      <a:pt x="113506" y="113506"/>
                    </a:moveTo>
                    <a:lnTo>
                      <a:pt x="82550" y="82550"/>
                    </a:lnTo>
                    <a:lnTo>
                      <a:pt x="10319" y="82550"/>
                    </a:lnTo>
                    <a:cubicBezTo>
                      <a:pt x="4620" y="82550"/>
                      <a:pt x="0" y="77930"/>
                      <a:pt x="0" y="72231"/>
                    </a:cubicBezTo>
                    <a:lnTo>
                      <a:pt x="0" y="10319"/>
                    </a:lnTo>
                    <a:cubicBezTo>
                      <a:pt x="0" y="4620"/>
                      <a:pt x="4620" y="0"/>
                      <a:pt x="10319" y="0"/>
                    </a:cubicBezTo>
                    <a:lnTo>
                      <a:pt x="103187" y="0"/>
                    </a:lnTo>
                    <a:cubicBezTo>
                      <a:pt x="108886" y="0"/>
                      <a:pt x="113506" y="4620"/>
                      <a:pt x="113506" y="10319"/>
                    </a:cubicBezTo>
                    <a:lnTo>
                      <a:pt x="113506" y="113506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Freeform 92"/>
              <p:cNvSpPr/>
              <p:nvPr/>
            </p:nvSpPr>
            <p:spPr>
              <a:xfrm>
                <a:off x="6393656" y="1760538"/>
                <a:ext cx="113506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113506">
                    <a:moveTo>
                      <a:pt x="113506" y="51594"/>
                    </a:moveTo>
                    <a:lnTo>
                      <a:pt x="113506" y="72231"/>
                    </a:lnTo>
                    <a:cubicBezTo>
                      <a:pt x="113506" y="77930"/>
                      <a:pt x="108886" y="82550"/>
                      <a:pt x="103188" y="82550"/>
                    </a:cubicBezTo>
                    <a:lnTo>
                      <a:pt x="30956" y="82550"/>
                    </a:lnTo>
                    <a:lnTo>
                      <a:pt x="0" y="113506"/>
                    </a:lnTo>
                    <a:lnTo>
                      <a:pt x="0" y="10319"/>
                    </a:lnTo>
                    <a:cubicBezTo>
                      <a:pt x="0" y="4620"/>
                      <a:pt x="4620" y="0"/>
                      <a:pt x="10319" y="0"/>
                    </a:cubicBez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4" name="TextBox 94"/>
            <p:cNvSpPr txBox="1"/>
            <p:nvPr/>
          </p:nvSpPr>
          <p:spPr>
            <a:xfrm>
              <a:off x="6690360" y="1708785"/>
              <a:ext cx="11898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conversations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351270" y="19983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聊天会话</a:t>
              </a:r>
            </a:p>
          </p:txBody>
        </p:sp>
        <p:sp>
          <p:nvSpPr>
            <p:cNvPr id="96" name="Line 96"/>
            <p:cNvSpPr/>
            <p:nvPr/>
          </p:nvSpPr>
          <p:spPr>
            <a:xfrm>
              <a:off x="6343650" y="214312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349365" y="2210752"/>
              <a:ext cx="151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id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022241" y="2226945"/>
              <a:ext cx="2568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uuid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142661" y="241458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PK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6343650" y="254317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349365" y="261080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user_id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920228" y="262699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bigint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084903" y="2814638"/>
              <a:ext cx="1923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7C9CFF"/>
                  </a:solidFill>
                  <a:latin typeface="Consolas"/>
                  <a:ea typeface="Microsoft YaHei"/>
                  <a:cs typeface="Consolas"/>
                </a:rPr>
                <a:t>FK*</a:t>
              </a:r>
            </a:p>
          </p:txBody>
        </p:sp>
        <p:sp>
          <p:nvSpPr>
            <p:cNvPr id="104" name="Line 104"/>
            <p:cNvSpPr/>
            <p:nvPr/>
          </p:nvSpPr>
          <p:spPr>
            <a:xfrm>
              <a:off x="6343650" y="294322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349365" y="3010852"/>
              <a:ext cx="1357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knowledge_base_id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022241" y="3027045"/>
              <a:ext cx="2568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uuid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84903" y="3214688"/>
              <a:ext cx="1923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7C9CFF"/>
                  </a:solidFill>
                  <a:latin typeface="Consolas"/>
                  <a:ea typeface="Microsoft YaHei"/>
                  <a:cs typeface="Consolas"/>
                </a:rPr>
                <a:t>FK*</a:t>
              </a:r>
            </a:p>
          </p:txBody>
        </p:sp>
        <p:sp>
          <p:nvSpPr>
            <p:cNvPr id="108" name="Line 108"/>
            <p:cNvSpPr/>
            <p:nvPr/>
          </p:nvSpPr>
          <p:spPr>
            <a:xfrm>
              <a:off x="6343650" y="3343275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349365" y="3410902"/>
              <a:ext cx="798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deleted_at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512177" y="342709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timestamptz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9239250" y="1485900"/>
            <a:ext cx="2419350" cy="1828800"/>
            <a:chOff x="9239250" y="1485900"/>
            <a:chExt cx="2419350" cy="1828800"/>
          </a:xfrm>
        </p:grpSpPr>
        <p:sp>
          <p:nvSpPr>
            <p:cNvPr id="112" name="Rectangle 112"/>
            <p:cNvSpPr/>
            <p:nvPr/>
          </p:nvSpPr>
          <p:spPr>
            <a:xfrm>
              <a:off x="9239250" y="1485900"/>
              <a:ext cx="2419350" cy="1828800"/>
            </a:xfrm>
            <a:prstGeom prst="roundRect">
              <a:avLst>
                <a:gd name="adj" fmla="val 6250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9239250" y="1485900"/>
              <a:ext cx="57150" cy="1828800"/>
            </a:xfrm>
            <a:prstGeom prst="roundRect">
              <a:avLst>
                <a:gd name="adj" fmla="val 50000"/>
              </a:avLst>
            </a:prstGeom>
            <a:solidFill>
              <a:srgbClr val="7C9C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6" name="Group 116"/>
            <p:cNvGrpSpPr/>
            <p:nvPr/>
          </p:nvGrpSpPr>
          <p:grpSpPr>
            <a:xfrm>
              <a:off x="9441656" y="1688306"/>
              <a:ext cx="185738" cy="185738"/>
              <a:chOff x="9441656" y="1688306"/>
              <a:chExt cx="185738" cy="185738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9513888" y="1688306"/>
                <a:ext cx="113506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113506">
                    <a:moveTo>
                      <a:pt x="113506" y="113506"/>
                    </a:moveTo>
                    <a:lnTo>
                      <a:pt x="82550" y="82550"/>
                    </a:lnTo>
                    <a:lnTo>
                      <a:pt x="10319" y="82550"/>
                    </a:lnTo>
                    <a:cubicBezTo>
                      <a:pt x="4620" y="82550"/>
                      <a:pt x="0" y="77930"/>
                      <a:pt x="0" y="72231"/>
                    </a:cubicBezTo>
                    <a:lnTo>
                      <a:pt x="0" y="10319"/>
                    </a:lnTo>
                    <a:cubicBezTo>
                      <a:pt x="0" y="4620"/>
                      <a:pt x="4620" y="0"/>
                      <a:pt x="10319" y="0"/>
                    </a:cubicBezTo>
                    <a:lnTo>
                      <a:pt x="103187" y="0"/>
                    </a:lnTo>
                    <a:cubicBezTo>
                      <a:pt x="108886" y="0"/>
                      <a:pt x="113506" y="4620"/>
                      <a:pt x="113506" y="10319"/>
                    </a:cubicBezTo>
                    <a:lnTo>
                      <a:pt x="113506" y="113506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Freeform 115"/>
              <p:cNvSpPr/>
              <p:nvPr/>
            </p:nvSpPr>
            <p:spPr>
              <a:xfrm>
                <a:off x="9441656" y="1760538"/>
                <a:ext cx="113506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113506">
                    <a:moveTo>
                      <a:pt x="113506" y="51594"/>
                    </a:moveTo>
                    <a:lnTo>
                      <a:pt x="113506" y="72231"/>
                    </a:lnTo>
                    <a:cubicBezTo>
                      <a:pt x="113506" y="77930"/>
                      <a:pt x="108886" y="82550"/>
                      <a:pt x="103188" y="82550"/>
                    </a:cubicBezTo>
                    <a:lnTo>
                      <a:pt x="30956" y="82550"/>
                    </a:lnTo>
                    <a:lnTo>
                      <a:pt x="0" y="113506"/>
                    </a:lnTo>
                    <a:lnTo>
                      <a:pt x="0" y="10319"/>
                    </a:lnTo>
                    <a:cubicBezTo>
                      <a:pt x="0" y="4620"/>
                      <a:pt x="4620" y="0"/>
                      <a:pt x="10319" y="0"/>
                    </a:cubicBez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7" name="TextBox 117"/>
            <p:cNvSpPr txBox="1"/>
            <p:nvPr/>
          </p:nvSpPr>
          <p:spPr>
            <a:xfrm>
              <a:off x="9738360" y="1708785"/>
              <a:ext cx="8033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messages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399270" y="19983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会话消息</a:t>
              </a:r>
            </a:p>
          </p:txBody>
        </p:sp>
        <p:sp>
          <p:nvSpPr>
            <p:cNvPr id="119" name="Line 119"/>
            <p:cNvSpPr/>
            <p:nvPr/>
          </p:nvSpPr>
          <p:spPr>
            <a:xfrm>
              <a:off x="9391650" y="2143125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9397365" y="2210752"/>
              <a:ext cx="151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id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0971657" y="22269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bigserial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362111" y="241458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PK</a:t>
              </a:r>
            </a:p>
          </p:txBody>
        </p:sp>
        <p:sp>
          <p:nvSpPr>
            <p:cNvPr id="123" name="Line 123"/>
            <p:cNvSpPr/>
            <p:nvPr/>
          </p:nvSpPr>
          <p:spPr>
            <a:xfrm>
              <a:off x="9391650" y="2543175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9397365" y="2610802"/>
              <a:ext cx="11660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conversation_id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241691" y="2626995"/>
              <a:ext cx="2568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uuid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304353" y="2814638"/>
              <a:ext cx="1923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7C9CFF"/>
                  </a:solidFill>
                  <a:latin typeface="Consolas"/>
                  <a:ea typeface="Microsoft YaHei"/>
                  <a:cs typeface="Consolas"/>
                </a:rPr>
                <a:t>FK*</a:t>
              </a:r>
            </a:p>
          </p:txBody>
        </p:sp>
        <p:sp>
          <p:nvSpPr>
            <p:cNvPr id="127" name="Line 127"/>
            <p:cNvSpPr/>
            <p:nvPr/>
          </p:nvSpPr>
          <p:spPr>
            <a:xfrm>
              <a:off x="9391650" y="2943225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397365" y="3010852"/>
              <a:ext cx="10484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role / content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211687" y="3027045"/>
              <a:ext cx="286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text</a:t>
              </a: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6191250" y="4057650"/>
            <a:ext cx="2476500" cy="1619250"/>
            <a:chOff x="6191250" y="4057650"/>
            <a:chExt cx="2476500" cy="1619250"/>
          </a:xfrm>
        </p:grpSpPr>
        <p:sp>
          <p:nvSpPr>
            <p:cNvPr id="131" name="Rectangle 131"/>
            <p:cNvSpPr/>
            <p:nvPr/>
          </p:nvSpPr>
          <p:spPr>
            <a:xfrm>
              <a:off x="6191250" y="4057650"/>
              <a:ext cx="2476500" cy="1619250"/>
            </a:xfrm>
            <a:prstGeom prst="roundRect">
              <a:avLst>
                <a:gd name="adj" fmla="val 7059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6191250" y="4057650"/>
              <a:ext cx="57150" cy="1619250"/>
            </a:xfrm>
            <a:prstGeom prst="roundRect">
              <a:avLst>
                <a:gd name="adj" fmla="val 50000"/>
              </a:avLst>
            </a:prstGeom>
            <a:solidFill>
              <a:srgbClr val="F6B94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6" name="Group 136"/>
            <p:cNvGrpSpPr/>
            <p:nvPr/>
          </p:nvGrpSpPr>
          <p:grpSpPr>
            <a:xfrm>
              <a:off x="6403974" y="4265333"/>
              <a:ext cx="170127" cy="175162"/>
              <a:chOff x="6403974" y="4265333"/>
              <a:chExt cx="170127" cy="175162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6455569" y="4321969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Freeform 134"/>
              <p:cNvSpPr/>
              <p:nvPr/>
            </p:nvSpPr>
            <p:spPr>
              <a:xfrm>
                <a:off x="6476206" y="4265333"/>
                <a:ext cx="97895" cy="97911"/>
              </a:xfrm>
              <a:custGeom>
                <a:avLst/>
                <a:gdLst/>
                <a:ahLst/>
                <a:cxnLst/>
                <a:rect l="l" t="t" r="r" b="b"/>
                <a:pathLst>
                  <a:path w="97895" h="97911">
                    <a:moveTo>
                      <a:pt x="0" y="25679"/>
                    </a:moveTo>
                    <a:lnTo>
                      <a:pt x="4778" y="20148"/>
                    </a:lnTo>
                    <a:cubicBezTo>
                      <a:pt x="24929" y="0"/>
                      <a:pt x="57598" y="2"/>
                      <a:pt x="77747" y="20154"/>
                    </a:cubicBezTo>
                    <a:cubicBezTo>
                      <a:pt x="97895" y="40305"/>
                      <a:pt x="97893" y="72974"/>
                      <a:pt x="77741" y="93123"/>
                    </a:cubicBezTo>
                    <a:lnTo>
                      <a:pt x="72231" y="97911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Freeform 135"/>
              <p:cNvSpPr/>
              <p:nvPr/>
            </p:nvSpPr>
            <p:spPr>
              <a:xfrm>
                <a:off x="6403974" y="4342606"/>
                <a:ext cx="92870" cy="97889"/>
              </a:xfrm>
              <a:custGeom>
                <a:avLst/>
                <a:gdLst/>
                <a:ahLst/>
                <a:cxnLst/>
                <a:rect l="l" t="t" r="r" b="b"/>
                <a:pathLst>
                  <a:path w="92870" h="97889">
                    <a:moveTo>
                      <a:pt x="92870" y="72231"/>
                    </a:moveTo>
                    <a:lnTo>
                      <a:pt x="88774" y="77741"/>
                    </a:lnTo>
                    <a:cubicBezTo>
                      <a:pt x="68399" y="97889"/>
                      <a:pt x="35606" y="97889"/>
                      <a:pt x="15232" y="77741"/>
                    </a:cubicBezTo>
                    <a:cubicBezTo>
                      <a:pt x="5485" y="68104"/>
                      <a:pt x="0" y="54967"/>
                      <a:pt x="0" y="41260"/>
                    </a:cubicBezTo>
                    <a:cubicBezTo>
                      <a:pt x="0" y="27552"/>
                      <a:pt x="5485" y="14415"/>
                      <a:pt x="15232" y="4778"/>
                    </a:cubicBezTo>
                    <a:lnTo>
                      <a:pt x="20639" y="0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7" name="TextBox 137"/>
            <p:cNvSpPr txBox="1"/>
            <p:nvPr/>
          </p:nvSpPr>
          <p:spPr>
            <a:xfrm>
              <a:off x="6690360" y="4280535"/>
              <a:ext cx="17862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knowledge_base_files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6351270" y="4570095"/>
              <a:ext cx="9289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知识库-文件桥接</a:t>
              </a:r>
            </a:p>
          </p:txBody>
        </p:sp>
        <p:sp>
          <p:nvSpPr>
            <p:cNvPr id="139" name="Line 139"/>
            <p:cNvSpPr/>
            <p:nvPr/>
          </p:nvSpPr>
          <p:spPr>
            <a:xfrm>
              <a:off x="6343650" y="4714875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6349365" y="4782502"/>
              <a:ext cx="1357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knowledge_base_id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8250841" y="4798695"/>
              <a:ext cx="2568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uuid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8371261" y="498633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PK</a:t>
              </a:r>
            </a:p>
          </p:txBody>
        </p:sp>
        <p:sp>
          <p:nvSpPr>
            <p:cNvPr id="143" name="Line 143"/>
            <p:cNvSpPr/>
            <p:nvPr/>
          </p:nvSpPr>
          <p:spPr>
            <a:xfrm>
              <a:off x="6343650" y="5114925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6349365" y="5182552"/>
              <a:ext cx="1283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knowledge_file_id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8250841" y="5198745"/>
              <a:ext cx="2568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uuid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8371261" y="538638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PK</a:t>
              </a:r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4362450" y="1847850"/>
            <a:ext cx="7541228" cy="3657600"/>
            <a:chOff x="4362450" y="1847850"/>
            <a:chExt cx="7541228" cy="3657600"/>
          </a:xfrm>
        </p:grpSpPr>
        <p:sp>
          <p:nvSpPr>
            <p:cNvPr id="148" name="Line 148"/>
            <p:cNvSpPr/>
            <p:nvPr/>
          </p:nvSpPr>
          <p:spPr>
            <a:xfrm>
              <a:off x="5486400" y="2247900"/>
              <a:ext cx="704850" cy="1"/>
            </a:xfrm>
            <a:prstGeom prst="line">
              <a:avLst/>
            </a:prstGeom>
            <a:noFill/>
            <a:ln w="23812">
              <a:solidFill>
                <a:srgbClr val="7C9CFF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5619750" y="1847850"/>
              <a:ext cx="600075" cy="228600"/>
            </a:xfrm>
            <a:prstGeom prst="roundRect">
              <a:avLst>
                <a:gd name="adj" fmla="val 50000"/>
              </a:avLst>
            </a:prstGeom>
            <a:solidFill>
              <a:srgbClr val="7C9CFF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5766590" y="1912620"/>
              <a:ext cx="306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9CFF"/>
                  </a:solidFill>
                  <a:latin typeface="Arial"/>
                  <a:ea typeface="Microsoft YaHei"/>
                  <a:cs typeface="Arial"/>
                </a:rPr>
                <a:t>1 : N</a:t>
              </a:r>
            </a:p>
          </p:txBody>
        </p:sp>
        <p:sp>
          <p:nvSpPr>
            <p:cNvPr id="151" name="Line 151"/>
            <p:cNvSpPr/>
            <p:nvPr/>
          </p:nvSpPr>
          <p:spPr>
            <a:xfrm>
              <a:off x="8439150" y="2247900"/>
              <a:ext cx="800100" cy="1"/>
            </a:xfrm>
            <a:prstGeom prst="line">
              <a:avLst/>
            </a:prstGeom>
            <a:noFill/>
            <a:ln w="23812">
              <a:solidFill>
                <a:srgbClr val="7C9CFF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8591550" y="1847850"/>
              <a:ext cx="600075" cy="228600"/>
            </a:xfrm>
            <a:prstGeom prst="roundRect">
              <a:avLst>
                <a:gd name="adj" fmla="val 50000"/>
              </a:avLst>
            </a:prstGeom>
            <a:solidFill>
              <a:srgbClr val="7C9CFF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8738390" y="1912620"/>
              <a:ext cx="306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9CFF"/>
                  </a:solidFill>
                  <a:latin typeface="Arial"/>
                  <a:ea typeface="Microsoft YaHei"/>
                  <a:cs typeface="Arial"/>
                </a:rPr>
                <a:t>1 : N</a:t>
              </a:r>
            </a:p>
          </p:txBody>
        </p:sp>
        <p:sp>
          <p:nvSpPr>
            <p:cNvPr id="154" name="Freeform 154"/>
            <p:cNvSpPr/>
            <p:nvPr/>
          </p:nvSpPr>
          <p:spPr>
            <a:xfrm>
              <a:off x="4362450" y="3524250"/>
              <a:ext cx="1828800" cy="1333500"/>
            </a:xfrm>
            <a:custGeom>
              <a:avLst/>
              <a:gdLst/>
              <a:ahLst/>
              <a:cxnLst/>
              <a:rect l="l" t="t" r="r" b="b"/>
              <a:pathLst>
                <a:path w="1828800" h="1333500">
                  <a:moveTo>
                    <a:pt x="0" y="0"/>
                  </a:moveTo>
                  <a:lnTo>
                    <a:pt x="0" y="171450"/>
                  </a:lnTo>
                  <a:cubicBezTo>
                    <a:pt x="0" y="333375"/>
                    <a:pt x="1638300" y="1333500"/>
                    <a:pt x="1828800" y="1333500"/>
                  </a:cubicBezTo>
                </a:path>
              </a:pathLst>
            </a:custGeom>
            <a:noFill/>
            <a:ln w="23812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155"/>
            <p:cNvSpPr/>
            <p:nvPr/>
          </p:nvSpPr>
          <p:spPr>
            <a:xfrm>
              <a:off x="5486400" y="4857750"/>
              <a:ext cx="704850" cy="1"/>
            </a:xfrm>
            <a:prstGeom prst="line">
              <a:avLst/>
            </a:prstGeom>
            <a:noFill/>
            <a:ln w="23812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4953000" y="4476750"/>
              <a:ext cx="600075" cy="228600"/>
            </a:xfrm>
            <a:prstGeom prst="roundRect">
              <a:avLst>
                <a:gd name="adj" fmla="val 50000"/>
              </a:avLst>
            </a:prstGeom>
            <a:solidFill>
              <a:srgbClr val="F6B94D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5087238" y="4541520"/>
              <a:ext cx="3315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6B94D"/>
                  </a:solidFill>
                  <a:latin typeface="Arial"/>
                  <a:ea typeface="Microsoft YaHei"/>
                  <a:cs typeface="Arial"/>
                </a:rPr>
                <a:t>N : M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9892665" y="35633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两条主链路</a:t>
              </a:r>
            </a:p>
          </p:txBody>
        </p:sp>
        <p:sp>
          <p:nvSpPr>
            <p:cNvPr id="159" name="Line 159"/>
            <p:cNvSpPr/>
            <p:nvPr/>
          </p:nvSpPr>
          <p:spPr>
            <a:xfrm>
              <a:off x="9239250" y="3867150"/>
              <a:ext cx="2419350" cy="9525"/>
            </a:xfrm>
            <a:custGeom>
              <a:avLst/>
              <a:gdLst/>
              <a:ahLst/>
              <a:cxnLst/>
              <a:rect l="l" t="t" r="r" b="b"/>
              <a:pathLst>
                <a:path w="2419350" h="9525">
                  <a:moveTo>
                    <a:pt x="0" y="0"/>
                  </a:moveTo>
                  <a:lnTo>
                    <a:pt x="241935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9227820" y="40176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知识库链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9894570" y="4017645"/>
              <a:ext cx="12290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users → bases ↔ files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9227820" y="426529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C9CFF"/>
                  </a:solidFill>
                  <a:latin typeface="Arial"/>
                  <a:ea typeface="Microsoft YaHei"/>
                  <a:cs typeface="Arial"/>
                </a:rPr>
                <a:t>会话链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9894570" y="4265295"/>
              <a:ext cx="20091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users → conversations → messages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9239250" y="4686300"/>
              <a:ext cx="2419350" cy="819150"/>
            </a:xfrm>
            <a:prstGeom prst="roundRect">
              <a:avLst>
                <a:gd name="adj" fmla="val 11628"/>
              </a:avLst>
            </a:prstGeom>
            <a:solidFill>
              <a:srgbClr val="F08080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8" name="Group 168"/>
            <p:cNvGrpSpPr/>
            <p:nvPr/>
          </p:nvGrpSpPr>
          <p:grpSpPr>
            <a:xfrm>
              <a:off x="9458325" y="4886325"/>
              <a:ext cx="133350" cy="171450"/>
              <a:chOff x="9458325" y="4886325"/>
              <a:chExt cx="133350" cy="171450"/>
            </a:xfrm>
          </p:grpSpPr>
          <p:sp>
            <p:nvSpPr>
              <p:cNvPr id="165" name="Freeform 165"/>
              <p:cNvSpPr/>
              <p:nvPr/>
            </p:nvSpPr>
            <p:spPr>
              <a:xfrm>
                <a:off x="9458325" y="496252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0808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166"/>
              <p:cNvSpPr/>
              <p:nvPr/>
            </p:nvSpPr>
            <p:spPr>
              <a:xfrm>
                <a:off x="9515475" y="50006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0808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Freeform 167"/>
              <p:cNvSpPr/>
              <p:nvPr/>
            </p:nvSpPr>
            <p:spPr>
              <a:xfrm>
                <a:off x="9486900" y="48863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F0808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9" name="TextBox 169"/>
            <p:cNvSpPr txBox="1"/>
            <p:nvPr/>
          </p:nvSpPr>
          <p:spPr>
            <a:xfrm>
              <a:off x="9723120" y="4922520"/>
              <a:ext cx="1343025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215"/>
                </a:lnSpc>
              </a:pPr>
              <a:r>
                <a:rPr lang="zh-CN" sz="900" b="1" dirty="0">
                  <a:solidFill>
                    <a:srgbClr val="F08080"/>
                  </a:solidFill>
                  <a:latin typeface="Arial"/>
                  <a:ea typeface="Microsoft YaHei"/>
                  <a:cs typeface="Arial"/>
                </a:rPr>
                <a:t>DDL 无外键约束跨表完整性由应用层负责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523875" y="6419850"/>
            <a:ext cx="11144250" cy="280988"/>
            <a:chOff x="523875" y="6419850"/>
            <a:chExt cx="11144250" cy="280988"/>
          </a:xfrm>
        </p:grpSpPr>
        <p:sp>
          <p:nvSpPr>
            <p:cNvPr id="171" name="Line 171"/>
            <p:cNvSpPr/>
            <p:nvPr/>
          </p:nvSpPr>
          <p:spPr>
            <a:xfrm>
              <a:off x="533400" y="6419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523875" y="6548438"/>
              <a:ext cx="33194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F819C"/>
                  </a:solidFill>
                  <a:latin typeface="Arial"/>
                  <a:ea typeface="Microsoft YaHei"/>
                  <a:cs typeface="Arial"/>
                </a:rPr>
                <a:t>注：DDL 未声明 FOREIGN KEY；关系依据字段命名、类型与业务语义推断。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1533561" y="654843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1" grpId="0"/>
      <p:bldP spid="64" grpId="0"/>
      <p:bldP spid="88" grpId="0"/>
      <p:bldP spid="111" grpId="0"/>
      <p:bldP spid="130" grpId="0"/>
      <p:bldP spid="147" grpId="0"/>
      <p:bldP spid="17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400050" y="-809625"/>
            <a:ext cx="13211175" cy="8667750"/>
            <a:chOff x="-400050" y="-809625"/>
            <a:chExt cx="13211175" cy="8667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8111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Ellipse 4"/>
            <p:cNvSpPr/>
            <p:nvPr/>
          </p:nvSpPr>
          <p:spPr>
            <a:xfrm>
              <a:off x="9572625" y="-809625"/>
              <a:ext cx="3238500" cy="3238500"/>
            </a:xfrm>
            <a:prstGeom prst="ellipse">
              <a:avLst/>
            </a:prstGeom>
            <a:solidFill>
              <a:srgbClr val="7C9CFF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Ellipse 5"/>
            <p:cNvSpPr/>
            <p:nvPr/>
          </p:nvSpPr>
          <p:spPr>
            <a:xfrm>
              <a:off x="-400050" y="5000625"/>
              <a:ext cx="2857500" cy="2857500"/>
            </a:xfrm>
            <a:prstGeom prst="ellipse">
              <a:avLst/>
            </a:prstGeom>
            <a:solidFill>
              <a:srgbClr val="42D6C7">
                <a:alpha val="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9110" y="321945"/>
            <a:ext cx="11169015" cy="906780"/>
            <a:chOff x="499110" y="321945"/>
            <a:chExt cx="11169015" cy="90678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321945"/>
              <a:ext cx="17177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REGISTRATION · TRANSACTION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97281" y="338138"/>
              <a:ext cx="37084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02 / 06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9110" y="5086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5F7FA"/>
                  </a:solidFill>
                  <a:latin typeface="Arial Black"/>
                  <a:ea typeface="SimHei"/>
                  <a:cs typeface="Arial Black"/>
                </a:rPr>
                <a:t>注册功能：用户与默认知识库应同事务创建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6255" y="921068"/>
              <a:ext cx="5074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唯一约束负责拒绝重复，事务负责避免只创建半套初始化数据。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33400" y="1219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524000"/>
            <a:ext cx="7810500" cy="1924050"/>
            <a:chOff x="533400" y="1524000"/>
            <a:chExt cx="7810500" cy="1924050"/>
          </a:xfrm>
        </p:grpSpPr>
        <p:sp>
          <p:nvSpPr>
            <p:cNvPr id="13" name="Rectangle 13"/>
            <p:cNvSpPr/>
            <p:nvPr/>
          </p:nvSpPr>
          <p:spPr>
            <a:xfrm>
              <a:off x="533400" y="1524000"/>
              <a:ext cx="7810500" cy="1924050"/>
            </a:xfrm>
            <a:prstGeom prst="roundRect">
              <a:avLst>
                <a:gd name="adj" fmla="val 7921"/>
              </a:avLst>
            </a:prstGeom>
            <a:solidFill>
              <a:srgbClr val="0E1B30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0565" y="1696402"/>
              <a:ext cx="3942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BEGIN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03448" y="1696402"/>
              <a:ext cx="5632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COMMIT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76300" y="3209925"/>
              <a:ext cx="7105650" cy="9525"/>
            </a:xfrm>
            <a:custGeom>
              <a:avLst/>
              <a:gdLst/>
              <a:ahLst/>
              <a:cxnLst/>
              <a:rect l="l" t="t" r="r" b="b"/>
              <a:pathLst>
                <a:path w="7105650" h="9525">
                  <a:moveTo>
                    <a:pt x="0" y="0"/>
                  </a:moveTo>
                  <a:lnTo>
                    <a:pt x="7105650" y="0"/>
                  </a:lnTo>
                </a:path>
              </a:pathLst>
            </a:custGeom>
            <a:noFill/>
            <a:ln w="19050">
              <a:solidFill>
                <a:srgbClr val="F6B94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23900" y="1971675"/>
            <a:ext cx="1752600" cy="1066800"/>
            <a:chOff x="723900" y="1971675"/>
            <a:chExt cx="1752600" cy="1066800"/>
          </a:xfrm>
        </p:grpSpPr>
        <p:sp>
          <p:nvSpPr>
            <p:cNvPr id="18" name="Rectangle 18"/>
            <p:cNvSpPr/>
            <p:nvPr/>
          </p:nvSpPr>
          <p:spPr>
            <a:xfrm>
              <a:off x="723900" y="1971675"/>
              <a:ext cx="1752600" cy="1066800"/>
            </a:xfrm>
            <a:prstGeom prst="roundRect">
              <a:avLst>
                <a:gd name="adj" fmla="val 10714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3900" y="1971675"/>
              <a:ext cx="1752600" cy="47625"/>
            </a:xfrm>
            <a:prstGeom prst="roundRect">
              <a:avLst>
                <a:gd name="adj" fmla="val 50000"/>
              </a:avLst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76300" y="2143125"/>
              <a:ext cx="323850" cy="323850"/>
            </a:xfrm>
            <a:prstGeom prst="roundRect">
              <a:avLst>
                <a:gd name="adj" fmla="val 50000"/>
              </a:avLst>
            </a:prstGeom>
            <a:solidFill>
              <a:srgbClr val="42D6C7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6779" y="22326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2055019" y="2178844"/>
              <a:ext cx="214313" cy="214313"/>
              <a:chOff x="2055019" y="2178844"/>
              <a:chExt cx="214313" cy="21431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2055019" y="2178844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2197894" y="2321719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861060" y="2556510"/>
              <a:ext cx="11898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校验 username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870" y="2807970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规范化并查重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686050" y="1971675"/>
            <a:ext cx="1752600" cy="1066800"/>
            <a:chOff x="2686050" y="1971675"/>
            <a:chExt cx="1752600" cy="1066800"/>
          </a:xfrm>
        </p:grpSpPr>
        <p:sp>
          <p:nvSpPr>
            <p:cNvPr id="28" name="Rectangle 28"/>
            <p:cNvSpPr/>
            <p:nvPr/>
          </p:nvSpPr>
          <p:spPr>
            <a:xfrm>
              <a:off x="2686050" y="1971675"/>
              <a:ext cx="1752600" cy="1066800"/>
            </a:xfrm>
            <a:prstGeom prst="roundRect">
              <a:avLst>
                <a:gd name="adj" fmla="val 10714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86050" y="1971675"/>
              <a:ext cx="1752600" cy="47625"/>
            </a:xfrm>
            <a:prstGeom prst="roundRect">
              <a:avLst>
                <a:gd name="adj" fmla="val 50000"/>
              </a:avLst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838450" y="2143125"/>
              <a:ext cx="323850" cy="323850"/>
            </a:xfrm>
            <a:prstGeom prst="roundRect">
              <a:avLst>
                <a:gd name="adj" fmla="val 50000"/>
              </a:avLst>
            </a:prstGeom>
            <a:solidFill>
              <a:srgbClr val="42D6C7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38929" y="22326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4040981" y="2178844"/>
              <a:ext cx="166688" cy="214312"/>
              <a:chOff x="4040981" y="2178844"/>
              <a:chExt cx="166688" cy="21431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040981" y="2274094"/>
                <a:ext cx="16668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9062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95250"/>
                    </a:lnTo>
                    <a:cubicBezTo>
                      <a:pt x="166688" y="108401"/>
                      <a:pt x="156026" y="119062"/>
                      <a:pt x="142875" y="119062"/>
                    </a:cubicBez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4112419" y="23217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4076700" y="2178844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823210" y="25565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安全哈希密码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27020" y="2807970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不保存明文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648200" y="1971675"/>
            <a:ext cx="1752600" cy="1066800"/>
            <a:chOff x="4648200" y="1971675"/>
            <a:chExt cx="1752600" cy="1066800"/>
          </a:xfrm>
        </p:grpSpPr>
        <p:sp>
          <p:nvSpPr>
            <p:cNvPr id="39" name="Rectangle 39"/>
            <p:cNvSpPr/>
            <p:nvPr/>
          </p:nvSpPr>
          <p:spPr>
            <a:xfrm>
              <a:off x="4648200" y="1971675"/>
              <a:ext cx="1752600" cy="1066800"/>
            </a:xfrm>
            <a:prstGeom prst="roundRect">
              <a:avLst>
                <a:gd name="adj" fmla="val 10714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648200" y="1971675"/>
              <a:ext cx="1752600" cy="47625"/>
            </a:xfrm>
            <a:prstGeom prst="roundRect">
              <a:avLst>
                <a:gd name="adj" fmla="val 50000"/>
              </a:avLst>
            </a:prstGeom>
            <a:solidFill>
              <a:srgbClr val="7C9C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800600" y="2143125"/>
              <a:ext cx="323850" cy="323850"/>
            </a:xfrm>
            <a:prstGeom prst="roundRect">
              <a:avLst>
                <a:gd name="adj" fmla="val 50000"/>
              </a:avLst>
            </a:prstGeom>
            <a:solidFill>
              <a:srgbClr val="7C9CFF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01079" y="22326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C9CFF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015038" y="2178844"/>
              <a:ext cx="142875" cy="214313"/>
              <a:chOff x="6015038" y="2178844"/>
              <a:chExt cx="142875" cy="21431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038850" y="2178844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6015038" y="2321719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4785360" y="2556510"/>
              <a:ext cx="10554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INSERT users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89170" y="2807970"/>
              <a:ext cx="7249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RETURNING id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610350" y="1971675"/>
            <a:ext cx="1752600" cy="1066800"/>
            <a:chOff x="6610350" y="1971675"/>
            <a:chExt cx="1752600" cy="1066800"/>
          </a:xfrm>
        </p:grpSpPr>
        <p:sp>
          <p:nvSpPr>
            <p:cNvPr id="49" name="Rectangle 49"/>
            <p:cNvSpPr/>
            <p:nvPr/>
          </p:nvSpPr>
          <p:spPr>
            <a:xfrm>
              <a:off x="6610350" y="1971675"/>
              <a:ext cx="1752600" cy="1066800"/>
            </a:xfrm>
            <a:prstGeom prst="roundRect">
              <a:avLst>
                <a:gd name="adj" fmla="val 10714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10350" y="1971675"/>
              <a:ext cx="1752600" cy="47625"/>
            </a:xfrm>
            <a:prstGeom prst="roundRect">
              <a:avLst>
                <a:gd name="adj" fmla="val 50000"/>
              </a:avLst>
            </a:prstGeom>
            <a:solidFill>
              <a:srgbClr val="F6B94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62750" y="2143125"/>
              <a:ext cx="323850" cy="323850"/>
            </a:xfrm>
            <a:prstGeom prst="roundRect">
              <a:avLst>
                <a:gd name="adj" fmla="val 50000"/>
              </a:avLst>
            </a:prstGeom>
            <a:solidFill>
              <a:srgbClr val="F6B94D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63229" y="22326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7953375" y="2178844"/>
              <a:ext cx="190500" cy="214312"/>
              <a:chOff x="7953375" y="2178844"/>
              <a:chExt cx="190500" cy="214312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953375" y="2178844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7953375" y="2214562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7953375" y="2286000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6747510" y="25565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初始化默认库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51320" y="2807970"/>
              <a:ext cx="952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is_default=true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476500" y="2505075"/>
            <a:ext cx="4095750" cy="1"/>
            <a:chOff x="2476500" y="2505075"/>
            <a:chExt cx="4095750" cy="1"/>
          </a:xfrm>
        </p:grpSpPr>
        <p:sp>
          <p:nvSpPr>
            <p:cNvPr id="60" name="Line 60"/>
            <p:cNvSpPr/>
            <p:nvPr/>
          </p:nvSpPr>
          <p:spPr>
            <a:xfrm>
              <a:off x="2476500" y="2505075"/>
              <a:ext cx="171450" cy="1"/>
            </a:xfrm>
            <a:prstGeom prst="line">
              <a:avLst/>
            </a:prstGeom>
            <a:noFill/>
            <a:ln w="23812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1"/>
            <p:cNvSpPr/>
            <p:nvPr/>
          </p:nvSpPr>
          <p:spPr>
            <a:xfrm>
              <a:off x="4438650" y="2505075"/>
              <a:ext cx="171450" cy="1"/>
            </a:xfrm>
            <a:prstGeom prst="line">
              <a:avLst/>
            </a:prstGeom>
            <a:noFill/>
            <a:ln w="23812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2"/>
            <p:cNvSpPr/>
            <p:nvPr/>
          </p:nvSpPr>
          <p:spPr>
            <a:xfrm>
              <a:off x="6400800" y="2505075"/>
              <a:ext cx="171450" cy="1"/>
            </a:xfrm>
            <a:prstGeom prst="line">
              <a:avLst/>
            </a:prstGeom>
            <a:noFill/>
            <a:ln w="23812">
              <a:solidFill>
                <a:srgbClr val="7C9CFF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724900" y="1524000"/>
            <a:ext cx="2933700" cy="1881188"/>
            <a:chOff x="8724900" y="1524000"/>
            <a:chExt cx="2933700" cy="1881188"/>
          </a:xfrm>
        </p:grpSpPr>
        <p:sp>
          <p:nvSpPr>
            <p:cNvPr id="64" name="Rectangle 64"/>
            <p:cNvSpPr/>
            <p:nvPr/>
          </p:nvSpPr>
          <p:spPr>
            <a:xfrm>
              <a:off x="8724900" y="1524000"/>
              <a:ext cx="2933700" cy="1771650"/>
            </a:xfrm>
            <a:prstGeom prst="roundRect">
              <a:avLst>
                <a:gd name="adj" fmla="val 6452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724900" y="1524000"/>
              <a:ext cx="57150" cy="1771650"/>
            </a:xfrm>
            <a:prstGeom prst="roundRect">
              <a:avLst>
                <a:gd name="adj" fmla="val 50000"/>
              </a:avLst>
            </a:prstGeom>
            <a:solidFill>
              <a:srgbClr val="7C9C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8958262" y="1726406"/>
              <a:ext cx="123825" cy="185737"/>
              <a:chOff x="8958262" y="1726406"/>
              <a:chExt cx="123825" cy="185737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978900" y="1726406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8958262" y="1850231"/>
                <a:ext cx="1238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61912">
                    <a:moveTo>
                      <a:pt x="0" y="61912"/>
                    </a:move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lnTo>
                      <a:pt x="82550" y="0"/>
                    </a:lnTo>
                    <a:cubicBezTo>
                      <a:pt x="105346" y="0"/>
                      <a:pt x="123825" y="18479"/>
                      <a:pt x="123825" y="41275"/>
                    </a:cubicBezTo>
                    <a:lnTo>
                      <a:pt x="123825" y="61912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" name="TextBox 69"/>
            <p:cNvSpPr txBox="1"/>
            <p:nvPr/>
          </p:nvSpPr>
          <p:spPr>
            <a:xfrm>
              <a:off x="9224010" y="1746885"/>
              <a:ext cx="492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users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84920" y="20364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先写用户账户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8877300" y="2181225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883015" y="2248852"/>
              <a:ext cx="702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username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11687" y="2265045"/>
              <a:ext cx="286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text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341108" y="2452688"/>
              <a:ext cx="15556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UQ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8877300" y="2581275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883015" y="2648902"/>
              <a:ext cx="1107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password_hash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211687" y="2665095"/>
              <a:ext cx="286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text</a:t>
              </a:r>
            </a:p>
          </p:txBody>
        </p:sp>
        <p:sp>
          <p:nvSpPr>
            <p:cNvPr id="78" name="Line 78"/>
            <p:cNvSpPr/>
            <p:nvPr/>
          </p:nvSpPr>
          <p:spPr>
            <a:xfrm>
              <a:off x="8877300" y="2981325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883015" y="3048952"/>
              <a:ext cx="151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id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971657" y="30651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bigserial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362111" y="325278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PK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8724900" y="3543300"/>
            <a:ext cx="2933700" cy="1771650"/>
            <a:chOff x="8724900" y="3543300"/>
            <a:chExt cx="2933700" cy="1771650"/>
          </a:xfrm>
        </p:grpSpPr>
        <p:sp>
          <p:nvSpPr>
            <p:cNvPr id="83" name="Rectangle 83"/>
            <p:cNvSpPr/>
            <p:nvPr/>
          </p:nvSpPr>
          <p:spPr>
            <a:xfrm>
              <a:off x="8724900" y="3543300"/>
              <a:ext cx="2933700" cy="1771650"/>
            </a:xfrm>
            <a:prstGeom prst="roundRect">
              <a:avLst>
                <a:gd name="adj" fmla="val 6452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724900" y="3543300"/>
              <a:ext cx="57150" cy="1771650"/>
            </a:xfrm>
            <a:prstGeom prst="roundRect">
              <a:avLst>
                <a:gd name="adj" fmla="val 50000"/>
              </a:avLst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8" name="Group 88"/>
            <p:cNvGrpSpPr/>
            <p:nvPr/>
          </p:nvGrpSpPr>
          <p:grpSpPr>
            <a:xfrm>
              <a:off x="8937625" y="3745706"/>
              <a:ext cx="165100" cy="185738"/>
              <a:chOff x="8937625" y="3745706"/>
              <a:chExt cx="165100" cy="18573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8937625" y="3745706"/>
                <a:ext cx="165100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100" y="48053"/>
                      <a:pt x="165100" y="30956"/>
                    </a:cubicBezTo>
                    <a:cubicBezTo>
                      <a:pt x="165100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Freeform 86"/>
              <p:cNvSpPr/>
              <p:nvPr/>
            </p:nvSpPr>
            <p:spPr>
              <a:xfrm>
                <a:off x="8937625" y="3776662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Freeform 87"/>
              <p:cNvSpPr/>
              <p:nvPr/>
            </p:nvSpPr>
            <p:spPr>
              <a:xfrm>
                <a:off x="8937625" y="3838575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9" name="TextBox 89"/>
            <p:cNvSpPr txBox="1"/>
            <p:nvPr/>
          </p:nvSpPr>
          <p:spPr>
            <a:xfrm>
              <a:off x="9224010" y="3766185"/>
              <a:ext cx="14082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knowledge_bases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884920" y="405574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再写默认知识库</a:t>
              </a:r>
            </a:p>
          </p:txBody>
        </p:sp>
        <p:sp>
          <p:nvSpPr>
            <p:cNvPr id="91" name="Line 91"/>
            <p:cNvSpPr/>
            <p:nvPr/>
          </p:nvSpPr>
          <p:spPr>
            <a:xfrm>
              <a:off x="8877300" y="4200525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883015" y="426815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user_id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139678" y="42843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bigint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304353" y="4471988"/>
              <a:ext cx="1923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FK*</a:t>
              </a:r>
            </a:p>
          </p:txBody>
        </p:sp>
        <p:sp>
          <p:nvSpPr>
            <p:cNvPr id="95" name="Line 95"/>
            <p:cNvSpPr/>
            <p:nvPr/>
          </p:nvSpPr>
          <p:spPr>
            <a:xfrm>
              <a:off x="8877300" y="4600575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883015" y="46682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is_default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043666" y="4684395"/>
              <a:ext cx="4549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boolean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341108" y="4872038"/>
              <a:ext cx="15556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UQ</a:t>
              </a:r>
            </a:p>
          </p:txBody>
        </p:sp>
        <p:sp>
          <p:nvSpPr>
            <p:cNvPr id="99" name="Line 99"/>
            <p:cNvSpPr/>
            <p:nvPr/>
          </p:nvSpPr>
          <p:spPr>
            <a:xfrm>
              <a:off x="8877300" y="5000625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883015" y="5068252"/>
              <a:ext cx="798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deleted_at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731627" y="508444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timestamptz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518160" y="3747135"/>
            <a:ext cx="7825740" cy="2120265"/>
            <a:chOff x="518160" y="3747135"/>
            <a:chExt cx="7825740" cy="2120265"/>
          </a:xfrm>
        </p:grpSpPr>
        <p:sp>
          <p:nvSpPr>
            <p:cNvPr id="103" name="TextBox 103"/>
            <p:cNvSpPr txBox="1"/>
            <p:nvPr/>
          </p:nvSpPr>
          <p:spPr>
            <a:xfrm>
              <a:off x="518160" y="37471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约束证据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533400" y="4057650"/>
              <a:ext cx="7810500" cy="1809750"/>
            </a:xfrm>
            <a:prstGeom prst="roundRect">
              <a:avLst>
                <a:gd name="adj" fmla="val 6316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05"/>
            <p:cNvSpPr/>
            <p:nvPr/>
          </p:nvSpPr>
          <p:spPr>
            <a:xfrm>
              <a:off x="794544" y="4368006"/>
              <a:ext cx="154781" cy="103188"/>
            </a:xfrm>
            <a:custGeom>
              <a:avLst/>
              <a:gdLst/>
              <a:ahLst/>
              <a:cxnLst/>
              <a:rect l="l" t="t" r="r" b="b"/>
              <a:pathLst>
                <a:path w="154781" h="103188">
                  <a:moveTo>
                    <a:pt x="0" y="51594"/>
                  </a:moveTo>
                  <a:lnTo>
                    <a:pt x="51594" y="103188"/>
                  </a:lnTo>
                  <a:lnTo>
                    <a:pt x="154781" y="0"/>
                  </a:lnTo>
                </a:path>
              </a:pathLst>
            </a:custGeom>
            <a:noFill/>
            <a:ln w="19050">
              <a:solidFill>
                <a:srgbClr val="F6B94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89660" y="4347210"/>
              <a:ext cx="19543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users.username UNIQUE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91565" y="4601528"/>
              <a:ext cx="36671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数据库拒绝重复用户名，应用层仍需将冲突转为明确错误。</a:t>
              </a:r>
            </a:p>
          </p:txBody>
        </p:sp>
        <p:grpSp>
          <p:nvGrpSpPr>
            <p:cNvPr id="111" name="Group 111"/>
            <p:cNvGrpSpPr/>
            <p:nvPr/>
          </p:nvGrpSpPr>
          <p:grpSpPr>
            <a:xfrm>
              <a:off x="794544" y="5003006"/>
              <a:ext cx="144462" cy="185738"/>
              <a:chOff x="794544" y="5003006"/>
              <a:chExt cx="144462" cy="185738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794544" y="5085556"/>
                <a:ext cx="144462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03188">
                    <a:moveTo>
                      <a:pt x="0" y="20638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23825" y="0"/>
                    </a:lnTo>
                    <a:cubicBezTo>
                      <a:pt x="135223" y="0"/>
                      <a:pt x="144462" y="9240"/>
                      <a:pt x="144462" y="20638"/>
                    </a:cubicBezTo>
                    <a:lnTo>
                      <a:pt x="144462" y="82550"/>
                    </a:lnTo>
                    <a:cubicBezTo>
                      <a:pt x="144462" y="93948"/>
                      <a:pt x="135223" y="103188"/>
                      <a:pt x="123825" y="103188"/>
                    </a:cubicBezTo>
                    <a:lnTo>
                      <a:pt x="20637" y="103188"/>
                    </a:lnTo>
                    <a:cubicBezTo>
                      <a:pt x="9240" y="103188"/>
                      <a:pt x="0" y="93948"/>
                      <a:pt x="0" y="82550"/>
                    </a:cubicBez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Freeform 109"/>
              <p:cNvSpPr/>
              <p:nvPr/>
            </p:nvSpPr>
            <p:spPr>
              <a:xfrm>
                <a:off x="856456" y="5126831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Freeform 110"/>
              <p:cNvSpPr/>
              <p:nvPr/>
            </p:nvSpPr>
            <p:spPr>
              <a:xfrm>
                <a:off x="825500" y="5003006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82550"/>
                    </a:move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cubicBezTo>
                      <a:pt x="64071" y="0"/>
                      <a:pt x="82550" y="18479"/>
                      <a:pt x="82550" y="41275"/>
                    </a:cubicBezTo>
                    <a:lnTo>
                      <a:pt x="82550" y="8255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" name="TextBox 112"/>
            <p:cNvSpPr txBox="1"/>
            <p:nvPr/>
          </p:nvSpPr>
          <p:spPr>
            <a:xfrm>
              <a:off x="1089660" y="5023485"/>
              <a:ext cx="28448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uq_knowledge_bases_user_default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91565" y="5277802"/>
              <a:ext cx="33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仅对 is_default=true 且 deleted_at IS NULL 生效。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5476875" y="4305300"/>
              <a:ext cx="2571750" cy="1066800"/>
            </a:xfrm>
            <a:prstGeom prst="roundRect">
              <a:avLst>
                <a:gd name="adj" fmla="val 8929"/>
              </a:avLst>
            </a:prstGeom>
            <a:solidFill>
              <a:srgbClr val="F6B94D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5654040" y="44681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6B94D"/>
                  </a:solidFill>
                  <a:latin typeface="Arial"/>
                  <a:ea typeface="Microsoft YaHei"/>
                  <a:cs typeface="Arial"/>
                </a:rPr>
                <a:t>事务边界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5654040" y="4744402"/>
              <a:ext cx="1580864" cy="3933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418"/>
                </a:lnSpc>
              </a:pPr>
              <a:r>
                <a:rPr lang="zh-CN" sz="105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任一步失败则整体回滚避免“有用户、无默认库”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523875" y="6419850"/>
            <a:ext cx="11144250" cy="280988"/>
            <a:chOff x="523875" y="6419850"/>
            <a:chExt cx="11144250" cy="280988"/>
          </a:xfrm>
        </p:grpSpPr>
        <p:sp>
          <p:nvSpPr>
            <p:cNvPr id="118" name="Line 118"/>
            <p:cNvSpPr/>
            <p:nvPr/>
          </p:nvSpPr>
          <p:spPr>
            <a:xfrm>
              <a:off x="533400" y="6419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523875" y="6548438"/>
              <a:ext cx="33194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F819C"/>
                  </a:solidFill>
                  <a:latin typeface="Arial"/>
                  <a:ea typeface="Microsoft YaHei"/>
                  <a:cs typeface="Arial"/>
                </a:rPr>
                <a:t>注：DDL 未声明 FOREIGN KEY；关系依据字段命名、类型与业务语义推断。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33561" y="654843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38" grpId="0"/>
      <p:bldP spid="48" grpId="0"/>
      <p:bldP spid="59" grpId="0"/>
      <p:bldP spid="63" grpId="0"/>
      <p:bldP spid="82" grpId="0"/>
      <p:bldP spid="102" grpId="0"/>
      <p:bldP spid="1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400050" y="-809625"/>
            <a:ext cx="13211175" cy="8667750"/>
            <a:chOff x="-400050" y="-809625"/>
            <a:chExt cx="13211175" cy="8667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8111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Ellipse 4"/>
            <p:cNvSpPr/>
            <p:nvPr/>
          </p:nvSpPr>
          <p:spPr>
            <a:xfrm>
              <a:off x="9572625" y="-809625"/>
              <a:ext cx="3238500" cy="3238500"/>
            </a:xfrm>
            <a:prstGeom prst="ellipse">
              <a:avLst/>
            </a:prstGeom>
            <a:solidFill>
              <a:srgbClr val="7C9CFF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Ellipse 5"/>
            <p:cNvSpPr/>
            <p:nvPr/>
          </p:nvSpPr>
          <p:spPr>
            <a:xfrm>
              <a:off x="-400050" y="5000625"/>
              <a:ext cx="2857500" cy="2857500"/>
            </a:xfrm>
            <a:prstGeom prst="ellipse">
              <a:avLst/>
            </a:prstGeom>
            <a:solidFill>
              <a:srgbClr val="42D6C7">
                <a:alpha val="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9110" y="321945"/>
            <a:ext cx="11169015" cy="906780"/>
            <a:chOff x="499110" y="321945"/>
            <a:chExt cx="11169015" cy="90678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321945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CHAT · DATA PLACEMENT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97281" y="338138"/>
              <a:ext cx="37084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03 / 06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9110" y="508635"/>
              <a:ext cx="762952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5F7FA"/>
                  </a:solidFill>
                  <a:latin typeface="Arial Black"/>
                  <a:ea typeface="SimHei"/>
                  <a:cs typeface="Arial Black"/>
                </a:rPr>
                <a:t>聊天功能：知识库定界，会话承载，消息追加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6255" y="921068"/>
              <a:ext cx="5434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一次聊天沿固定数据路径落库，向量检索逻辑位于六张关系表之外。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33400" y="1219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581150"/>
            <a:ext cx="2190750" cy="952500"/>
            <a:chOff x="533400" y="1581150"/>
            <a:chExt cx="2190750" cy="952500"/>
          </a:xfrm>
        </p:grpSpPr>
        <p:sp>
          <p:nvSpPr>
            <p:cNvPr id="13" name="Rectangle 13"/>
            <p:cNvSpPr/>
            <p:nvPr/>
          </p:nvSpPr>
          <p:spPr>
            <a:xfrm>
              <a:off x="533400" y="1581150"/>
              <a:ext cx="2190750" cy="952500"/>
            </a:xfrm>
            <a:prstGeom prst="roundRect">
              <a:avLst>
                <a:gd name="adj" fmla="val 12000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158115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F6B94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1515" y="1744028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2352675" y="1747838"/>
              <a:ext cx="133350" cy="200025"/>
              <a:chOff x="2352675" y="1747838"/>
              <a:chExt cx="133350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374900" y="17478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352675" y="18811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89610" y="20135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鉴权用户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3420" y="227457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users.id 确认所有权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33750" y="1581150"/>
            <a:ext cx="2190750" cy="952500"/>
            <a:chOff x="3333750" y="1581150"/>
            <a:chExt cx="2190750" cy="952500"/>
          </a:xfrm>
        </p:grpSpPr>
        <p:sp>
          <p:nvSpPr>
            <p:cNvPr id="22" name="Rectangle 22"/>
            <p:cNvSpPr/>
            <p:nvPr/>
          </p:nvSpPr>
          <p:spPr>
            <a:xfrm>
              <a:off x="3333750" y="1581150"/>
              <a:ext cx="2190750" cy="952500"/>
            </a:xfrm>
            <a:prstGeom prst="roundRect">
              <a:avLst>
                <a:gd name="adj" fmla="val 12000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33750" y="158115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91865" y="1744028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30800" y="1747838"/>
              <a:ext cx="177800" cy="200024"/>
              <a:chOff x="5130800" y="1747838"/>
              <a:chExt cx="177800" cy="20002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130800" y="1747838"/>
                <a:ext cx="1778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8" y="66675"/>
                      <a:pt x="177800" y="51749"/>
                      <a:pt x="177800" y="33338"/>
                    </a:cubicBezTo>
                    <a:cubicBezTo>
                      <a:pt x="177800" y="14926"/>
                      <a:pt x="137998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5130800" y="1781175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5130800" y="1847850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489960" y="201358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选择知识库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93770" y="2274570"/>
              <a:ext cx="8809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id 决定检索范围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34100" y="1581150"/>
            <a:ext cx="2190750" cy="952500"/>
            <a:chOff x="6134100" y="1581150"/>
            <a:chExt cx="2190750" cy="952500"/>
          </a:xfrm>
        </p:grpSpPr>
        <p:sp>
          <p:nvSpPr>
            <p:cNvPr id="32" name="Rectangle 32"/>
            <p:cNvSpPr/>
            <p:nvPr/>
          </p:nvSpPr>
          <p:spPr>
            <a:xfrm>
              <a:off x="6134100" y="1581150"/>
              <a:ext cx="2190750" cy="952500"/>
            </a:xfrm>
            <a:prstGeom prst="roundRect">
              <a:avLst>
                <a:gd name="adj" fmla="val 12000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134100" y="158115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7C9C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92215" y="1744028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9CFF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7920038" y="1747838"/>
              <a:ext cx="200025" cy="200025"/>
              <a:chOff x="7920038" y="1747838"/>
              <a:chExt cx="200025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997825" y="1747838"/>
                <a:ext cx="12223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22238">
                    <a:moveTo>
                      <a:pt x="122238" y="122238"/>
                    </a:moveTo>
                    <a:lnTo>
                      <a:pt x="88900" y="88900"/>
                    </a:ln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7"/>
                    </a:cubicBez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lnTo>
                      <a:pt x="111125" y="0"/>
                    </a:lnTo>
                    <a:cubicBezTo>
                      <a:pt x="117262" y="0"/>
                      <a:pt x="122238" y="4975"/>
                      <a:pt x="122238" y="11112"/>
                    </a:cubicBezTo>
                    <a:lnTo>
                      <a:pt x="122238" y="122238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7920038" y="1825625"/>
                <a:ext cx="12223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22238">
                    <a:moveTo>
                      <a:pt x="122238" y="55563"/>
                    </a:moveTo>
                    <a:lnTo>
                      <a:pt x="122238" y="77788"/>
                    </a:lnTo>
                    <a:cubicBezTo>
                      <a:pt x="122238" y="83925"/>
                      <a:pt x="117262" y="88900"/>
                      <a:pt x="111125" y="88900"/>
                    </a:cubicBezTo>
                    <a:lnTo>
                      <a:pt x="33338" y="88900"/>
                    </a:lnTo>
                    <a:lnTo>
                      <a:pt x="0" y="122238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2" y="0"/>
                    </a:cubicBez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6290310" y="2013585"/>
              <a:ext cx="1131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创建/继续会话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94120" y="2274570"/>
              <a:ext cx="11690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写入 user_id + kb_id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934450" y="1581150"/>
            <a:ext cx="2190750" cy="952500"/>
            <a:chOff x="8934450" y="1581150"/>
            <a:chExt cx="2190750" cy="952500"/>
          </a:xfrm>
        </p:grpSpPr>
        <p:sp>
          <p:nvSpPr>
            <p:cNvPr id="41" name="Rectangle 41"/>
            <p:cNvSpPr/>
            <p:nvPr/>
          </p:nvSpPr>
          <p:spPr>
            <a:xfrm>
              <a:off x="8934450" y="1581150"/>
              <a:ext cx="2190750" cy="952500"/>
            </a:xfrm>
            <a:prstGeom prst="roundRect">
              <a:avLst>
                <a:gd name="adj" fmla="val 12000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934450" y="158115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7C9C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92565" y="1744028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9CFF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10720388" y="1747838"/>
              <a:ext cx="200024" cy="200025"/>
              <a:chOff x="10720388" y="1747838"/>
              <a:chExt cx="200024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798175" y="1747838"/>
                <a:ext cx="122237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22238">
                    <a:moveTo>
                      <a:pt x="122237" y="122238"/>
                    </a:moveTo>
                    <a:lnTo>
                      <a:pt x="88900" y="88900"/>
                    </a:lnTo>
                    <a:lnTo>
                      <a:pt x="11112" y="88900"/>
                    </a:lnTo>
                    <a:cubicBezTo>
                      <a:pt x="4975" y="88900"/>
                      <a:pt x="0" y="83925"/>
                      <a:pt x="0" y="77787"/>
                    </a:cubicBez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lnTo>
                      <a:pt x="111125" y="0"/>
                    </a:lnTo>
                    <a:cubicBezTo>
                      <a:pt x="117262" y="0"/>
                      <a:pt x="122237" y="4975"/>
                      <a:pt x="122237" y="11112"/>
                    </a:cubicBezTo>
                    <a:lnTo>
                      <a:pt x="122237" y="122238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10720388" y="1825625"/>
                <a:ext cx="122237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22238">
                    <a:moveTo>
                      <a:pt x="122237" y="55563"/>
                    </a:moveTo>
                    <a:lnTo>
                      <a:pt x="122237" y="77788"/>
                    </a:lnTo>
                    <a:cubicBezTo>
                      <a:pt x="122237" y="83925"/>
                      <a:pt x="117262" y="88900"/>
                      <a:pt x="111125" y="88900"/>
                    </a:cubicBezTo>
                    <a:lnTo>
                      <a:pt x="33338" y="88900"/>
                    </a:lnTo>
                    <a:lnTo>
                      <a:pt x="0" y="122238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9090660" y="2013585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追加角色化消息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94470" y="2274570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role + content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724150" y="2057400"/>
            <a:ext cx="6172200" cy="1"/>
            <a:chOff x="2724150" y="2057400"/>
            <a:chExt cx="6172200" cy="1"/>
          </a:xfrm>
        </p:grpSpPr>
        <p:sp>
          <p:nvSpPr>
            <p:cNvPr id="50" name="Line 50"/>
            <p:cNvSpPr/>
            <p:nvPr/>
          </p:nvSpPr>
          <p:spPr>
            <a:xfrm>
              <a:off x="2724150" y="2057400"/>
              <a:ext cx="571500" cy="1"/>
            </a:xfrm>
            <a:prstGeom prst="line">
              <a:avLst/>
            </a:prstGeom>
            <a:noFill/>
            <a:ln w="23812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51"/>
            <p:cNvSpPr/>
            <p:nvPr/>
          </p:nvSpPr>
          <p:spPr>
            <a:xfrm>
              <a:off x="5524500" y="2057400"/>
              <a:ext cx="571500" cy="1"/>
            </a:xfrm>
            <a:prstGeom prst="line">
              <a:avLst/>
            </a:prstGeom>
            <a:noFill/>
            <a:ln w="23812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52"/>
            <p:cNvSpPr/>
            <p:nvPr/>
          </p:nvSpPr>
          <p:spPr>
            <a:xfrm>
              <a:off x="8324850" y="2057400"/>
              <a:ext cx="571500" cy="1"/>
            </a:xfrm>
            <a:prstGeom prst="line">
              <a:avLst/>
            </a:prstGeom>
            <a:noFill/>
            <a:ln w="23812">
              <a:solidFill>
                <a:srgbClr val="7C9CFF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33400" y="2952750"/>
            <a:ext cx="11125200" cy="3162300"/>
            <a:chOff x="533400" y="2952750"/>
            <a:chExt cx="11125200" cy="3162300"/>
          </a:xfrm>
        </p:grpSpPr>
        <p:sp>
          <p:nvSpPr>
            <p:cNvPr id="54" name="Rectangle 54"/>
            <p:cNvSpPr/>
            <p:nvPr/>
          </p:nvSpPr>
          <p:spPr>
            <a:xfrm>
              <a:off x="533400" y="2952750"/>
              <a:ext cx="11125200" cy="2781300"/>
            </a:xfrm>
            <a:prstGeom prst="roundRect">
              <a:avLst>
                <a:gd name="adj" fmla="val 5479"/>
              </a:avLst>
            </a:prstGeom>
            <a:solidFill>
              <a:srgbClr val="0E1B30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0570" y="3179445"/>
              <a:ext cx="13082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POSTGRESQL 数据落点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914400" y="3524250"/>
              <a:ext cx="2571750" cy="1790700"/>
              <a:chOff x="914400" y="3524250"/>
              <a:chExt cx="2571750" cy="17907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914400" y="3524250"/>
                <a:ext cx="2571750" cy="1790700"/>
              </a:xfrm>
              <a:prstGeom prst="roundRect">
                <a:avLst>
                  <a:gd name="adj" fmla="val 6383"/>
                </a:avLst>
              </a:prstGeom>
              <a:solidFill>
                <a:srgbClr val="13233D"/>
              </a:solidFill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914400" y="3524250"/>
                <a:ext cx="57150" cy="1790700"/>
              </a:xfrm>
              <a:prstGeom prst="roundRect">
                <a:avLst>
                  <a:gd name="adj" fmla="val 50000"/>
                </a:avLst>
              </a:prstGeom>
              <a:solidFill>
                <a:srgbClr val="42D6C7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1" name="Group 61"/>
              <p:cNvGrpSpPr/>
              <p:nvPr/>
            </p:nvGrpSpPr>
            <p:grpSpPr>
              <a:xfrm>
                <a:off x="1127125" y="3726656"/>
                <a:ext cx="165100" cy="185738"/>
                <a:chOff x="1127125" y="3726656"/>
                <a:chExt cx="165100" cy="185738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1127125" y="3726656"/>
                  <a:ext cx="165100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100" y="48053"/>
                        <a:pt x="165100" y="30956"/>
                      </a:cubicBezTo>
                      <a:cubicBezTo>
                        <a:pt x="165100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19050">
                  <a:solidFill>
                    <a:srgbClr val="42D6C7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1127125" y="3757612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42D6C7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" name="Freeform 60"/>
                <p:cNvSpPr/>
                <p:nvPr/>
              </p:nvSpPr>
              <p:spPr>
                <a:xfrm>
                  <a:off x="1127125" y="3819525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42D6C7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1413510" y="3747135"/>
                <a:ext cx="14082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knowledge_bases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074420" y="40366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AB7CC"/>
                    </a:solidFill>
                    <a:latin typeface="Arial"/>
                    <a:ea typeface="Microsoft YaHei"/>
                    <a:cs typeface="Arial"/>
                  </a:rPr>
                  <a:t>检索边界</a:t>
                </a:r>
              </a:p>
            </p:txBody>
          </p:sp>
          <p:sp>
            <p:nvSpPr>
              <p:cNvPr id="64" name="Line 64"/>
              <p:cNvSpPr/>
              <p:nvPr/>
            </p:nvSpPr>
            <p:spPr>
              <a:xfrm>
                <a:off x="1066800" y="4181475"/>
                <a:ext cx="2266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50" h="9525">
                    <a:moveTo>
                      <a:pt x="0" y="0"/>
                    </a:moveTo>
                    <a:lnTo>
                      <a:pt x="2266950" y="0"/>
                    </a:lnTo>
                  </a:path>
                </a:pathLst>
              </a:custGeom>
              <a:noFill/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72515" y="4249102"/>
                <a:ext cx="1516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id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3069241" y="4265295"/>
                <a:ext cx="25688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AAB7CC"/>
                    </a:solidFill>
                    <a:latin typeface="Consolas"/>
                    <a:ea typeface="Microsoft YaHei"/>
                    <a:cs typeface="Consolas"/>
                  </a:rPr>
                  <a:t>uuid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3189661" y="4452938"/>
                <a:ext cx="13456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750" b="1" dirty="0">
                    <a:solidFill>
                      <a:srgbClr val="F6B94D"/>
                    </a:solidFill>
                    <a:latin typeface="Consolas"/>
                    <a:ea typeface="Microsoft YaHei"/>
                    <a:cs typeface="Consolas"/>
                  </a:rPr>
                  <a:t>PK</a:t>
                </a:r>
              </a:p>
            </p:txBody>
          </p:sp>
          <p:sp>
            <p:nvSpPr>
              <p:cNvPr id="68" name="Line 68"/>
              <p:cNvSpPr/>
              <p:nvPr/>
            </p:nvSpPr>
            <p:spPr>
              <a:xfrm>
                <a:off x="1066800" y="4581525"/>
                <a:ext cx="2266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50" h="9525">
                    <a:moveTo>
                      <a:pt x="0" y="0"/>
                    </a:moveTo>
                    <a:lnTo>
                      <a:pt x="2266950" y="0"/>
                    </a:lnTo>
                  </a:path>
                </a:pathLst>
              </a:custGeom>
              <a:noFill/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72515" y="4649152"/>
                <a:ext cx="555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user_id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2967228" y="4665345"/>
                <a:ext cx="3589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AAB7CC"/>
                    </a:solidFill>
                    <a:latin typeface="Consolas"/>
                    <a:ea typeface="Microsoft YaHei"/>
                    <a:cs typeface="Consolas"/>
                  </a:rPr>
                  <a:t>bigint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3131903" y="4852988"/>
                <a:ext cx="19232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750" b="1" dirty="0">
                    <a:solidFill>
                      <a:srgbClr val="42D6C7"/>
                    </a:solidFill>
                    <a:latin typeface="Consolas"/>
                    <a:ea typeface="Microsoft YaHei"/>
                    <a:cs typeface="Consolas"/>
                  </a:rPr>
                  <a:t>FK*</a:t>
                </a:r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1066800" y="4981575"/>
                <a:ext cx="2266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50" h="9525">
                    <a:moveTo>
                      <a:pt x="0" y="0"/>
                    </a:moveTo>
                    <a:lnTo>
                      <a:pt x="2266950" y="0"/>
                    </a:lnTo>
                  </a:path>
                </a:pathLst>
              </a:custGeom>
              <a:noFill/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1072515" y="5049202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name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3039237" y="5065395"/>
                <a:ext cx="28689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AAB7CC"/>
                    </a:solidFill>
                    <a:latin typeface="Consolas"/>
                    <a:ea typeface="Microsoft YaHei"/>
                    <a:cs typeface="Consolas"/>
                  </a:rPr>
                  <a:t>text</a:t>
                </a: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4800600" y="3333750"/>
              <a:ext cx="2743200" cy="2190750"/>
              <a:chOff x="4800600" y="3333750"/>
              <a:chExt cx="2743200" cy="219075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4800600" y="3333750"/>
                <a:ext cx="2743200" cy="2190750"/>
              </a:xfrm>
              <a:prstGeom prst="roundRect">
                <a:avLst>
                  <a:gd name="adj" fmla="val 5217"/>
                </a:avLst>
              </a:prstGeom>
              <a:solidFill>
                <a:srgbClr val="13233D"/>
              </a:solidFill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Rectangle 77"/>
              <p:cNvSpPr/>
              <p:nvPr/>
            </p:nvSpPr>
            <p:spPr>
              <a:xfrm>
                <a:off x="4800600" y="3333750"/>
                <a:ext cx="57150" cy="2190750"/>
              </a:xfrm>
              <a:prstGeom prst="roundRect">
                <a:avLst>
                  <a:gd name="adj" fmla="val 50000"/>
                </a:avLst>
              </a:prstGeom>
              <a:solidFill>
                <a:srgbClr val="7C9CF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0" name="Group 80"/>
              <p:cNvGrpSpPr/>
              <p:nvPr/>
            </p:nvGrpSpPr>
            <p:grpSpPr>
              <a:xfrm>
                <a:off x="5003006" y="3536156"/>
                <a:ext cx="185738" cy="185738"/>
                <a:chOff x="5003006" y="3536156"/>
                <a:chExt cx="185738" cy="185738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5075238" y="3536156"/>
                  <a:ext cx="113506" cy="11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06" h="113506">
                      <a:moveTo>
                        <a:pt x="113506" y="113506"/>
                      </a:moveTo>
                      <a:lnTo>
                        <a:pt x="82550" y="82550"/>
                      </a:lnTo>
                      <a:lnTo>
                        <a:pt x="10319" y="82550"/>
                      </a:lnTo>
                      <a:cubicBezTo>
                        <a:pt x="4620" y="82550"/>
                        <a:pt x="0" y="77930"/>
                        <a:pt x="0" y="72231"/>
                      </a:cubicBezTo>
                      <a:lnTo>
                        <a:pt x="0" y="10319"/>
                      </a:ln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103187" y="0"/>
                      </a:lnTo>
                      <a:cubicBezTo>
                        <a:pt x="108886" y="0"/>
                        <a:pt x="113506" y="4620"/>
                        <a:pt x="113506" y="10319"/>
                      </a:cubicBezTo>
                      <a:lnTo>
                        <a:pt x="113506" y="113506"/>
                      </a:lnTo>
                    </a:path>
                  </a:pathLst>
                </a:custGeom>
                <a:noFill/>
                <a:ln w="19050">
                  <a:solidFill>
                    <a:srgbClr val="7C9C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003006" y="3608388"/>
                  <a:ext cx="113506" cy="11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06" h="113506">
                      <a:moveTo>
                        <a:pt x="113506" y="51594"/>
                      </a:moveTo>
                      <a:lnTo>
                        <a:pt x="113506" y="72231"/>
                      </a:lnTo>
                      <a:cubicBezTo>
                        <a:pt x="113506" y="77930"/>
                        <a:pt x="108886" y="82550"/>
                        <a:pt x="103188" y="82550"/>
                      </a:cubicBezTo>
                      <a:lnTo>
                        <a:pt x="30956" y="82550"/>
                      </a:lnTo>
                      <a:lnTo>
                        <a:pt x="0" y="113506"/>
                      </a:lnTo>
                      <a:lnTo>
                        <a:pt x="0" y="10319"/>
                      </a:ln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30956" y="0"/>
                      </a:lnTo>
                    </a:path>
                  </a:pathLst>
                </a:custGeom>
                <a:noFill/>
                <a:ln w="19050">
                  <a:solidFill>
                    <a:srgbClr val="7C9C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1" name="TextBox 81"/>
              <p:cNvSpPr txBox="1"/>
              <p:nvPr/>
            </p:nvSpPr>
            <p:spPr>
              <a:xfrm>
                <a:off x="5299710" y="3556635"/>
                <a:ext cx="118982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conversations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4960620" y="38461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AB7CC"/>
                    </a:solidFill>
                    <a:latin typeface="Arial"/>
                    <a:ea typeface="Microsoft YaHei"/>
                    <a:cs typeface="Arial"/>
                  </a:rPr>
                  <a:t>会话容器</a:t>
                </a:r>
              </a:p>
            </p:txBody>
          </p:sp>
          <p:sp>
            <p:nvSpPr>
              <p:cNvPr id="83" name="Line 83"/>
              <p:cNvSpPr/>
              <p:nvPr/>
            </p:nvSpPr>
            <p:spPr>
              <a:xfrm>
                <a:off x="4953000" y="3990975"/>
                <a:ext cx="243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9525">
                    <a:moveTo>
                      <a:pt x="0" y="0"/>
                    </a:moveTo>
                    <a:lnTo>
                      <a:pt x="2438400" y="0"/>
                    </a:lnTo>
                  </a:path>
                </a:pathLst>
              </a:custGeom>
              <a:noFill/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4958715" y="4058602"/>
                <a:ext cx="1516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id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7126891" y="4074795"/>
                <a:ext cx="25688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AAB7CC"/>
                    </a:solidFill>
                    <a:latin typeface="Consolas"/>
                    <a:ea typeface="Microsoft YaHei"/>
                    <a:cs typeface="Consolas"/>
                  </a:rPr>
                  <a:t>uuid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7247311" y="4262438"/>
                <a:ext cx="13456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750" b="1" dirty="0">
                    <a:solidFill>
                      <a:srgbClr val="F6B94D"/>
                    </a:solidFill>
                    <a:latin typeface="Consolas"/>
                    <a:ea typeface="Microsoft YaHei"/>
                    <a:cs typeface="Consolas"/>
                  </a:rPr>
                  <a:t>PK</a:t>
                </a:r>
              </a:p>
            </p:txBody>
          </p:sp>
          <p:sp>
            <p:nvSpPr>
              <p:cNvPr id="87" name="Line 87"/>
              <p:cNvSpPr/>
              <p:nvPr/>
            </p:nvSpPr>
            <p:spPr>
              <a:xfrm>
                <a:off x="4953000" y="4391025"/>
                <a:ext cx="243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9525">
                    <a:moveTo>
                      <a:pt x="0" y="0"/>
                    </a:moveTo>
                    <a:lnTo>
                      <a:pt x="2438400" y="0"/>
                    </a:lnTo>
                  </a:path>
                </a:pathLst>
              </a:custGeom>
              <a:noFill/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4958715" y="4458652"/>
                <a:ext cx="555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user_id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7024878" y="4474845"/>
                <a:ext cx="3589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AAB7CC"/>
                    </a:solidFill>
                    <a:latin typeface="Consolas"/>
                    <a:ea typeface="Microsoft YaHei"/>
                    <a:cs typeface="Consolas"/>
                  </a:rPr>
                  <a:t>bigint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7189553" y="4662488"/>
                <a:ext cx="19232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750" b="1" dirty="0">
                    <a:solidFill>
                      <a:srgbClr val="7C9CFF"/>
                    </a:solidFill>
                    <a:latin typeface="Consolas"/>
                    <a:ea typeface="Microsoft YaHei"/>
                    <a:cs typeface="Consolas"/>
                  </a:rPr>
                  <a:t>FK*</a:t>
                </a:r>
              </a:p>
            </p:txBody>
          </p:sp>
          <p:sp>
            <p:nvSpPr>
              <p:cNvPr id="91" name="Line 91"/>
              <p:cNvSpPr/>
              <p:nvPr/>
            </p:nvSpPr>
            <p:spPr>
              <a:xfrm>
                <a:off x="4953000" y="4791075"/>
                <a:ext cx="243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9525">
                    <a:moveTo>
                      <a:pt x="0" y="0"/>
                    </a:moveTo>
                    <a:lnTo>
                      <a:pt x="2438400" y="0"/>
                    </a:lnTo>
                  </a:path>
                </a:pathLst>
              </a:custGeom>
              <a:noFill/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4958715" y="4858702"/>
                <a:ext cx="13571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knowledge_base_id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7126891" y="4874895"/>
                <a:ext cx="25688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AAB7CC"/>
                    </a:solidFill>
                    <a:latin typeface="Consolas"/>
                    <a:ea typeface="Microsoft YaHei"/>
                    <a:cs typeface="Consolas"/>
                  </a:rPr>
                  <a:t>uuid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7189553" y="5062538"/>
                <a:ext cx="19232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750" b="1" dirty="0">
                    <a:solidFill>
                      <a:srgbClr val="7C9CFF"/>
                    </a:solidFill>
                    <a:latin typeface="Consolas"/>
                    <a:ea typeface="Microsoft YaHei"/>
                    <a:cs typeface="Consolas"/>
                  </a:rPr>
                  <a:t>FK*</a:t>
                </a:r>
              </a:p>
            </p:txBody>
          </p:sp>
          <p:sp>
            <p:nvSpPr>
              <p:cNvPr id="95" name="Line 95"/>
              <p:cNvSpPr/>
              <p:nvPr/>
            </p:nvSpPr>
            <p:spPr>
              <a:xfrm>
                <a:off x="4953000" y="5191125"/>
                <a:ext cx="243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9525">
                    <a:moveTo>
                      <a:pt x="0" y="0"/>
                    </a:moveTo>
                    <a:lnTo>
                      <a:pt x="2438400" y="0"/>
                    </a:lnTo>
                  </a:path>
                </a:pathLst>
              </a:custGeom>
              <a:noFill/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4958715" y="5258752"/>
                <a:ext cx="8352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updated_at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6616827" y="5274945"/>
                <a:ext cx="7669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AAB7CC"/>
                    </a:solidFill>
                    <a:latin typeface="Consolas"/>
                    <a:ea typeface="Microsoft YaHei"/>
                    <a:cs typeface="Consolas"/>
                  </a:rPr>
                  <a:t>timestamptz</a:t>
                </a: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8858250" y="3524250"/>
              <a:ext cx="2419350" cy="1790700"/>
              <a:chOff x="8858250" y="3524250"/>
              <a:chExt cx="2419350" cy="1790700"/>
            </a:xfrm>
          </p:grpSpPr>
          <p:sp>
            <p:nvSpPr>
              <p:cNvPr id="99" name="Rectangle 99"/>
              <p:cNvSpPr/>
              <p:nvPr/>
            </p:nvSpPr>
            <p:spPr>
              <a:xfrm>
                <a:off x="8858250" y="3524250"/>
                <a:ext cx="2419350" cy="1790700"/>
              </a:xfrm>
              <a:prstGeom prst="roundRect">
                <a:avLst>
                  <a:gd name="adj" fmla="val 6383"/>
                </a:avLst>
              </a:prstGeom>
              <a:solidFill>
                <a:srgbClr val="13233D"/>
              </a:solidFill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Rectangle 100"/>
              <p:cNvSpPr/>
              <p:nvPr/>
            </p:nvSpPr>
            <p:spPr>
              <a:xfrm>
                <a:off x="8858250" y="3524250"/>
                <a:ext cx="57150" cy="1790700"/>
              </a:xfrm>
              <a:prstGeom prst="roundRect">
                <a:avLst>
                  <a:gd name="adj" fmla="val 50000"/>
                </a:avLst>
              </a:prstGeom>
              <a:solidFill>
                <a:srgbClr val="7C9CF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3" name="Group 103"/>
              <p:cNvGrpSpPr/>
              <p:nvPr/>
            </p:nvGrpSpPr>
            <p:grpSpPr>
              <a:xfrm>
                <a:off x="9060656" y="3726656"/>
                <a:ext cx="185738" cy="185738"/>
                <a:chOff x="9060656" y="3726656"/>
                <a:chExt cx="185738" cy="185738"/>
              </a:xfrm>
            </p:grpSpPr>
            <p:sp>
              <p:nvSpPr>
                <p:cNvPr id="101" name="Freeform 101"/>
                <p:cNvSpPr/>
                <p:nvPr/>
              </p:nvSpPr>
              <p:spPr>
                <a:xfrm>
                  <a:off x="9132888" y="3726656"/>
                  <a:ext cx="113506" cy="11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06" h="113506">
                      <a:moveTo>
                        <a:pt x="113506" y="113506"/>
                      </a:moveTo>
                      <a:lnTo>
                        <a:pt x="82550" y="82550"/>
                      </a:lnTo>
                      <a:lnTo>
                        <a:pt x="10319" y="82550"/>
                      </a:lnTo>
                      <a:cubicBezTo>
                        <a:pt x="4620" y="82550"/>
                        <a:pt x="0" y="77930"/>
                        <a:pt x="0" y="72231"/>
                      </a:cubicBezTo>
                      <a:lnTo>
                        <a:pt x="0" y="10319"/>
                      </a:ln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103187" y="0"/>
                      </a:lnTo>
                      <a:cubicBezTo>
                        <a:pt x="108886" y="0"/>
                        <a:pt x="113506" y="4620"/>
                        <a:pt x="113506" y="10319"/>
                      </a:cubicBezTo>
                      <a:lnTo>
                        <a:pt x="113506" y="113506"/>
                      </a:lnTo>
                    </a:path>
                  </a:pathLst>
                </a:custGeom>
                <a:noFill/>
                <a:ln w="19050">
                  <a:solidFill>
                    <a:srgbClr val="7C9C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" name="Freeform 102"/>
                <p:cNvSpPr/>
                <p:nvPr/>
              </p:nvSpPr>
              <p:spPr>
                <a:xfrm>
                  <a:off x="9060656" y="3798888"/>
                  <a:ext cx="113506" cy="11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06" h="113506">
                      <a:moveTo>
                        <a:pt x="113506" y="51594"/>
                      </a:moveTo>
                      <a:lnTo>
                        <a:pt x="113506" y="72231"/>
                      </a:lnTo>
                      <a:cubicBezTo>
                        <a:pt x="113506" y="77930"/>
                        <a:pt x="108886" y="82550"/>
                        <a:pt x="103188" y="82550"/>
                      </a:cubicBezTo>
                      <a:lnTo>
                        <a:pt x="30956" y="82550"/>
                      </a:lnTo>
                      <a:lnTo>
                        <a:pt x="0" y="113506"/>
                      </a:lnTo>
                      <a:lnTo>
                        <a:pt x="0" y="10319"/>
                      </a:ln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30956" y="0"/>
                      </a:lnTo>
                    </a:path>
                  </a:pathLst>
                </a:custGeom>
                <a:noFill/>
                <a:ln w="19050">
                  <a:solidFill>
                    <a:srgbClr val="7C9C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4" name="TextBox 104"/>
              <p:cNvSpPr txBox="1"/>
              <p:nvPr/>
            </p:nvSpPr>
            <p:spPr>
              <a:xfrm>
                <a:off x="9357360" y="3747135"/>
                <a:ext cx="80337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messages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9018270" y="40366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AB7CC"/>
                    </a:solidFill>
                    <a:latin typeface="Arial"/>
                    <a:ea typeface="Microsoft YaHei"/>
                    <a:cs typeface="Arial"/>
                  </a:rPr>
                  <a:t>追加记录</a:t>
                </a:r>
              </a:p>
            </p:txBody>
          </p:sp>
          <p:sp>
            <p:nvSpPr>
              <p:cNvPr id="106" name="Line 106"/>
              <p:cNvSpPr/>
              <p:nvPr/>
            </p:nvSpPr>
            <p:spPr>
              <a:xfrm>
                <a:off x="9010650" y="4181475"/>
                <a:ext cx="2114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4550" h="9525">
                    <a:moveTo>
                      <a:pt x="0" y="0"/>
                    </a:moveTo>
                    <a:lnTo>
                      <a:pt x="2114550" y="0"/>
                    </a:lnTo>
                  </a:path>
                </a:pathLst>
              </a:custGeom>
              <a:noFill/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9016365" y="4249102"/>
                <a:ext cx="11660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conversation_id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10860691" y="4265295"/>
                <a:ext cx="25688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AAB7CC"/>
                    </a:solidFill>
                    <a:latin typeface="Consolas"/>
                    <a:ea typeface="Microsoft YaHei"/>
                    <a:cs typeface="Consolas"/>
                  </a:rPr>
                  <a:t>uuid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10923353" y="4452938"/>
                <a:ext cx="19232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750" b="1" dirty="0">
                    <a:solidFill>
                      <a:srgbClr val="7C9CFF"/>
                    </a:solidFill>
                    <a:latin typeface="Consolas"/>
                    <a:ea typeface="Microsoft YaHei"/>
                    <a:cs typeface="Consolas"/>
                  </a:rPr>
                  <a:t>FK*</a:t>
                </a:r>
              </a:p>
            </p:txBody>
          </p:sp>
          <p:sp>
            <p:nvSpPr>
              <p:cNvPr id="110" name="Line 110"/>
              <p:cNvSpPr/>
              <p:nvPr/>
            </p:nvSpPr>
            <p:spPr>
              <a:xfrm>
                <a:off x="9010650" y="4581525"/>
                <a:ext cx="2114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4550" h="9525">
                    <a:moveTo>
                      <a:pt x="0" y="0"/>
                    </a:moveTo>
                    <a:lnTo>
                      <a:pt x="2114550" y="0"/>
                    </a:lnTo>
                  </a:path>
                </a:pathLst>
              </a:custGeom>
              <a:noFill/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9016365" y="4649152"/>
                <a:ext cx="3133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role</a:t>
                </a:r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10830687" y="4665345"/>
                <a:ext cx="28689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AAB7CC"/>
                    </a:solidFill>
                    <a:latin typeface="Consolas"/>
                    <a:ea typeface="Microsoft YaHei"/>
                    <a:cs typeface="Consolas"/>
                  </a:rPr>
                  <a:t>text</a:t>
                </a:r>
              </a:p>
            </p:txBody>
          </p:sp>
          <p:sp>
            <p:nvSpPr>
              <p:cNvPr id="113" name="Line 113"/>
              <p:cNvSpPr/>
              <p:nvPr/>
            </p:nvSpPr>
            <p:spPr>
              <a:xfrm>
                <a:off x="9010650" y="4981575"/>
                <a:ext cx="2114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4550" h="9525">
                    <a:moveTo>
                      <a:pt x="0" y="0"/>
                    </a:moveTo>
                    <a:lnTo>
                      <a:pt x="2114550" y="0"/>
                    </a:lnTo>
                  </a:path>
                </a:pathLst>
              </a:custGeom>
              <a:noFill/>
              <a:ln w="9525">
                <a:solidFill>
                  <a:srgbClr val="2B416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9016365" y="5049202"/>
                <a:ext cx="5926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7FA"/>
                    </a:solidFill>
                    <a:latin typeface="Consolas"/>
                    <a:ea typeface="Microsoft YaHei"/>
                    <a:cs typeface="Consolas"/>
                  </a:rPr>
                  <a:t>content</a:t>
                </a: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10830687" y="5065395"/>
                <a:ext cx="28689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AAB7CC"/>
                    </a:solidFill>
                    <a:latin typeface="Consolas"/>
                    <a:ea typeface="Microsoft YaHei"/>
                    <a:cs typeface="Consolas"/>
                  </a:rPr>
                  <a:t>text</a:t>
                </a:r>
              </a:p>
            </p:txBody>
          </p:sp>
        </p:grpSp>
        <p:sp>
          <p:nvSpPr>
            <p:cNvPr id="117" name="Line 117"/>
            <p:cNvSpPr/>
            <p:nvPr/>
          </p:nvSpPr>
          <p:spPr>
            <a:xfrm>
              <a:off x="3486150" y="4419600"/>
              <a:ext cx="1276350" cy="1"/>
            </a:xfrm>
            <a:prstGeom prst="line">
              <a:avLst/>
            </a:prstGeom>
            <a:noFill/>
            <a:ln w="28575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3752850" y="4038600"/>
              <a:ext cx="600075" cy="228600"/>
            </a:xfrm>
            <a:prstGeom prst="roundRect">
              <a:avLst>
                <a:gd name="adj" fmla="val 50000"/>
              </a:avLst>
            </a:prstGeom>
            <a:solidFill>
              <a:srgbClr val="42D6C7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3899690" y="4103370"/>
              <a:ext cx="306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1 : N</a:t>
              </a:r>
            </a:p>
          </p:txBody>
        </p:sp>
        <p:sp>
          <p:nvSpPr>
            <p:cNvPr id="120" name="Line 120"/>
            <p:cNvSpPr/>
            <p:nvPr/>
          </p:nvSpPr>
          <p:spPr>
            <a:xfrm>
              <a:off x="7543800" y="4419600"/>
              <a:ext cx="1276350" cy="1"/>
            </a:xfrm>
            <a:prstGeom prst="line">
              <a:avLst/>
            </a:prstGeom>
            <a:noFill/>
            <a:ln w="28575">
              <a:solidFill>
                <a:srgbClr val="7C9CFF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7810500" y="4038600"/>
              <a:ext cx="600075" cy="228600"/>
            </a:xfrm>
            <a:prstGeom prst="roundRect">
              <a:avLst>
                <a:gd name="adj" fmla="val 50000"/>
              </a:avLst>
            </a:prstGeom>
            <a:solidFill>
              <a:srgbClr val="7C9CFF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957340" y="4103370"/>
              <a:ext cx="306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9CFF"/>
                  </a:solidFill>
                  <a:latin typeface="Arial"/>
                  <a:ea typeface="Microsoft YaHei"/>
                  <a:cs typeface="Arial"/>
                </a:rPr>
                <a:t>1 : N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3848100" y="5772150"/>
              <a:ext cx="4495800" cy="342900"/>
            </a:xfrm>
            <a:prstGeom prst="roundRect">
              <a:avLst>
                <a:gd name="adj" fmla="val 50000"/>
              </a:avLst>
            </a:prstGeom>
            <a:solidFill>
              <a:srgbClr val="42D6C7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6" name="Group 126"/>
            <p:cNvGrpSpPr/>
            <p:nvPr/>
          </p:nvGrpSpPr>
          <p:grpSpPr>
            <a:xfrm>
              <a:off x="4026694" y="5855494"/>
              <a:ext cx="157163" cy="157163"/>
              <a:chOff x="4026694" y="5855494"/>
              <a:chExt cx="157163" cy="157163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4026694" y="5855494"/>
                <a:ext cx="122237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22238">
                    <a:moveTo>
                      <a:pt x="0" y="61119"/>
                    </a:moveTo>
                    <a:cubicBezTo>
                      <a:pt x="0" y="94874"/>
                      <a:pt x="27364" y="122238"/>
                      <a:pt x="61119" y="122238"/>
                    </a:cubicBezTo>
                    <a:cubicBezTo>
                      <a:pt x="94874" y="122238"/>
                      <a:pt x="122237" y="94874"/>
                      <a:pt x="122237" y="61119"/>
                    </a:cubicBezTo>
                    <a:cubicBezTo>
                      <a:pt x="122237" y="27364"/>
                      <a:pt x="94874" y="0"/>
                      <a:pt x="61119" y="0"/>
                    </a:cubicBezTo>
                    <a:cubicBezTo>
                      <a:pt x="27364" y="0"/>
                      <a:pt x="0" y="27364"/>
                      <a:pt x="0" y="61119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125"/>
              <p:cNvSpPr/>
              <p:nvPr/>
            </p:nvSpPr>
            <p:spPr>
              <a:xfrm>
                <a:off x="4131469" y="5960269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52388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7" name="TextBox 127"/>
            <p:cNvSpPr txBox="1"/>
            <p:nvPr/>
          </p:nvSpPr>
          <p:spPr>
            <a:xfrm>
              <a:off x="4312920" y="5894070"/>
              <a:ext cx="37592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向量检索：使用 knowledge_base_id 定界，但实现不在这六张表中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523875" y="6419850"/>
            <a:ext cx="11144250" cy="280988"/>
            <a:chOff x="523875" y="6419850"/>
            <a:chExt cx="11144250" cy="280988"/>
          </a:xfrm>
        </p:grpSpPr>
        <p:sp>
          <p:nvSpPr>
            <p:cNvPr id="129" name="Line 129"/>
            <p:cNvSpPr/>
            <p:nvPr/>
          </p:nvSpPr>
          <p:spPr>
            <a:xfrm>
              <a:off x="533400" y="6419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523875" y="6548438"/>
              <a:ext cx="33194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F819C"/>
                  </a:solidFill>
                  <a:latin typeface="Arial"/>
                  <a:ea typeface="Microsoft YaHei"/>
                  <a:cs typeface="Arial"/>
                </a:rPr>
                <a:t>注：DDL 未声明 FOREIGN KEY；关系依据字段命名、类型与业务语义推断。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1533561" y="654843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1" grpId="0"/>
      <p:bldP spid="40" grpId="0"/>
      <p:bldP spid="49" grpId="0"/>
      <p:bldP spid="53" grpId="0"/>
      <p:bldP spid="1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400050" y="-809625"/>
            <a:ext cx="13211175" cy="8667750"/>
            <a:chOff x="-400050" y="-809625"/>
            <a:chExt cx="13211175" cy="8667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8111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Ellipse 4"/>
            <p:cNvSpPr/>
            <p:nvPr/>
          </p:nvSpPr>
          <p:spPr>
            <a:xfrm>
              <a:off x="9572625" y="-809625"/>
              <a:ext cx="3238500" cy="3238500"/>
            </a:xfrm>
            <a:prstGeom prst="ellipse">
              <a:avLst/>
            </a:prstGeom>
            <a:solidFill>
              <a:srgbClr val="7C9CFF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Ellipse 5"/>
            <p:cNvSpPr/>
            <p:nvPr/>
          </p:nvSpPr>
          <p:spPr>
            <a:xfrm>
              <a:off x="-400050" y="5000625"/>
              <a:ext cx="2857500" cy="2857500"/>
            </a:xfrm>
            <a:prstGeom prst="ellipse">
              <a:avLst/>
            </a:prstGeom>
            <a:solidFill>
              <a:srgbClr val="42D6C7">
                <a:alpha val="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9110" y="321945"/>
            <a:ext cx="11169015" cy="906780"/>
            <a:chOff x="499110" y="321945"/>
            <a:chExt cx="11169015" cy="90678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321945"/>
              <a:ext cx="17870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KNOWLEDGE BASE · FILE REUSE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97281" y="338138"/>
              <a:ext cx="37084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04 / 06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9110" y="508635"/>
              <a:ext cx="65520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5F7FA"/>
                  </a:solidFill>
                  <a:latin typeface="Arial Black"/>
                  <a:ea typeface="SimHei"/>
                  <a:cs typeface="Arial Black"/>
                </a:rPr>
                <a:t>知识库与文件：桥接表实现可复用 N:M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6255" y="921068"/>
              <a:ext cx="54529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复合主键去重关联，文件哈希去重内容；两种“去重”解决不同问题。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33400" y="1219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5800" y="1619250"/>
            <a:ext cx="10820400" cy="2476500"/>
            <a:chOff x="685800" y="1619250"/>
            <a:chExt cx="10820400" cy="2476500"/>
          </a:xfrm>
        </p:grpSpPr>
        <p:sp>
          <p:nvSpPr>
            <p:cNvPr id="13" name="Rectangle 13"/>
            <p:cNvSpPr/>
            <p:nvPr/>
          </p:nvSpPr>
          <p:spPr>
            <a:xfrm>
              <a:off x="685800" y="1809750"/>
              <a:ext cx="2762250" cy="2095500"/>
            </a:xfrm>
            <a:prstGeom prst="roundRect">
              <a:avLst>
                <a:gd name="adj" fmla="val 7273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60450" y="2166938"/>
              <a:ext cx="279400" cy="314324"/>
              <a:chOff x="1060450" y="2166938"/>
              <a:chExt cx="279400" cy="31432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060450" y="2166938"/>
                <a:ext cx="2794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104775">
                    <a:moveTo>
                      <a:pt x="0" y="52388"/>
                    </a:moveTo>
                    <a:cubicBezTo>
                      <a:pt x="0" y="81320"/>
                      <a:pt x="62546" y="104775"/>
                      <a:pt x="139700" y="104775"/>
                    </a:cubicBezTo>
                    <a:cubicBezTo>
                      <a:pt x="216854" y="104775"/>
                      <a:pt x="279400" y="81320"/>
                      <a:pt x="279400" y="52388"/>
                    </a:cubicBezTo>
                    <a:cubicBezTo>
                      <a:pt x="279400" y="23455"/>
                      <a:pt x="216854" y="0"/>
                      <a:pt x="139700" y="0"/>
                    </a:cubicBezTo>
                    <a:cubicBezTo>
                      <a:pt x="62546" y="0"/>
                      <a:pt x="0" y="23455"/>
                      <a:pt x="0" y="52388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060450" y="2219325"/>
                <a:ext cx="2794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400" y="133708"/>
                      <a:pt x="279400" y="104775"/>
                    </a:cubicBezTo>
                    <a:lnTo>
                      <a:pt x="2794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1060450" y="2324100"/>
                <a:ext cx="2794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400" y="133708"/>
                      <a:pt x="279400" y="104775"/>
                    </a:cubicBezTo>
                    <a:lnTo>
                      <a:pt x="2794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971550" y="2638425"/>
              <a:ext cx="17603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knowledge_bases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5360" y="29756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一个知识库组合多个文件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7265" y="3449002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user_id · deleted_at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667250" y="1619250"/>
              <a:ext cx="2857500" cy="2476500"/>
            </a:xfrm>
            <a:prstGeom prst="roundRect">
              <a:avLst>
                <a:gd name="adj" fmla="val 6923"/>
              </a:avLst>
            </a:prstGeom>
            <a:solidFill>
              <a:srgbClr val="F6B94D">
                <a:alpha val="10000"/>
              </a:srgbClr>
            </a:solidFill>
            <a:ln w="19050">
              <a:solidFill>
                <a:srgbClr val="F6B94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918197" y="1983041"/>
              <a:ext cx="366429" cy="377272"/>
              <a:chOff x="5918197" y="1983041"/>
              <a:chExt cx="366429" cy="37727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29325" y="21050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13335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6073775" y="1983041"/>
                <a:ext cx="210851" cy="210884"/>
              </a:xfrm>
              <a:custGeom>
                <a:avLst/>
                <a:gdLst/>
                <a:ahLst/>
                <a:cxnLst/>
                <a:rect l="l" t="t" r="r" b="b"/>
                <a:pathLst>
                  <a:path w="210851" h="210884">
                    <a:moveTo>
                      <a:pt x="0" y="55309"/>
                    </a:moveTo>
                    <a:lnTo>
                      <a:pt x="10290" y="43397"/>
                    </a:lnTo>
                    <a:cubicBezTo>
                      <a:pt x="53693" y="0"/>
                      <a:pt x="124058" y="5"/>
                      <a:pt x="167454" y="43408"/>
                    </a:cubicBezTo>
                    <a:cubicBezTo>
                      <a:pt x="210851" y="86810"/>
                      <a:pt x="210846" y="157175"/>
                      <a:pt x="167443" y="200572"/>
                    </a:cubicBezTo>
                    <a:lnTo>
                      <a:pt x="155575" y="210884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5918197" y="2149475"/>
                <a:ext cx="200028" cy="210838"/>
              </a:xfrm>
              <a:custGeom>
                <a:avLst/>
                <a:gdLst/>
                <a:ahLst/>
                <a:cxnLst/>
                <a:rect l="l" t="t" r="r" b="b"/>
                <a:pathLst>
                  <a:path w="200028" h="210838">
                    <a:moveTo>
                      <a:pt x="200028" y="155575"/>
                    </a:moveTo>
                    <a:lnTo>
                      <a:pt x="191205" y="167443"/>
                    </a:lnTo>
                    <a:cubicBezTo>
                      <a:pt x="147322" y="210838"/>
                      <a:pt x="76690" y="210838"/>
                      <a:pt x="32807" y="167443"/>
                    </a:cubicBezTo>
                    <a:cubicBezTo>
                      <a:pt x="11814" y="146685"/>
                      <a:pt x="0" y="118390"/>
                      <a:pt x="0" y="88867"/>
                    </a:cubicBezTo>
                    <a:cubicBezTo>
                      <a:pt x="0" y="59344"/>
                      <a:pt x="11814" y="31048"/>
                      <a:pt x="32807" y="10290"/>
                    </a:cubicBezTo>
                    <a:lnTo>
                      <a:pt x="44453" y="0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5598602" y="2423160"/>
              <a:ext cx="9947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6B94D"/>
                  </a:solidFill>
                  <a:latin typeface="Arial Black"/>
                  <a:ea typeface="SimHei"/>
                  <a:cs typeface="Arial Black"/>
                </a:rPr>
                <a:t>N : 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91207" y="2911792"/>
              <a:ext cx="20095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knowledge_base_files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048250" y="33147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F6B94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14494" y="3468052"/>
              <a:ext cx="15630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knowledge_base_id PK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51249" y="3715702"/>
              <a:ext cx="14895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knowledge_file_id PK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743950" y="1809750"/>
              <a:ext cx="2762250" cy="2095500"/>
            </a:xfrm>
            <a:prstGeom prst="roundRect">
              <a:avLst>
                <a:gd name="adj" fmla="val 7273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9136062" y="2166938"/>
              <a:ext cx="261938" cy="314325"/>
              <a:chOff x="9136062" y="2166938"/>
              <a:chExt cx="261938" cy="3143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310688" y="2166938"/>
                <a:ext cx="87312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87312">
                    <a:moveTo>
                      <a:pt x="0" y="0"/>
                    </a:moveTo>
                    <a:lnTo>
                      <a:pt x="0" y="69850"/>
                    </a:lnTo>
                    <a:cubicBezTo>
                      <a:pt x="0" y="79494"/>
                      <a:pt x="7818" y="87312"/>
                      <a:pt x="17463" y="87312"/>
                    </a:cubicBezTo>
                    <a:lnTo>
                      <a:pt x="87312" y="87312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9205912" y="2166938"/>
                <a:ext cx="192087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92087" h="244475">
                    <a:moveTo>
                      <a:pt x="157162" y="244475"/>
                    </a:moveTo>
                    <a:lnTo>
                      <a:pt x="34925" y="244475"/>
                    </a:lnTo>
                    <a:cubicBezTo>
                      <a:pt x="15636" y="244475"/>
                      <a:pt x="0" y="228839"/>
                      <a:pt x="0" y="209550"/>
                    </a:cubicBez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104775" y="0"/>
                    </a:lnTo>
                    <a:lnTo>
                      <a:pt x="192087" y="87312"/>
                    </a:lnTo>
                    <a:lnTo>
                      <a:pt x="192087" y="209550"/>
                    </a:lnTo>
                    <a:cubicBezTo>
                      <a:pt x="192087" y="228839"/>
                      <a:pt x="176451" y="244475"/>
                      <a:pt x="157162" y="244475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9136062" y="2236788"/>
                <a:ext cx="192088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92088" h="244475">
                    <a:moveTo>
                      <a:pt x="192088" y="174625"/>
                    </a:moveTo>
                    <a:lnTo>
                      <a:pt x="192088" y="209550"/>
                    </a:lnTo>
                    <a:cubicBezTo>
                      <a:pt x="192088" y="228839"/>
                      <a:pt x="176451" y="244475"/>
                      <a:pt x="157162" y="244475"/>
                    </a:cubicBezTo>
                    <a:lnTo>
                      <a:pt x="34925" y="244475"/>
                    </a:lnTo>
                    <a:cubicBezTo>
                      <a:pt x="15636" y="244475"/>
                      <a:pt x="0" y="228839"/>
                      <a:pt x="0" y="209550"/>
                    </a:cubicBez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9029700" y="2638425"/>
              <a:ext cx="16553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knowledge_files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33510" y="29756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同一文件可被多个库复用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35415" y="3449002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user_id · file_hash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3448050" y="2857500"/>
              <a:ext cx="1181100" cy="1"/>
            </a:xfrm>
            <a:prstGeom prst="line">
              <a:avLst/>
            </a:prstGeom>
            <a:noFill/>
            <a:ln w="28575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40"/>
            <p:cNvSpPr/>
            <p:nvPr/>
          </p:nvSpPr>
          <p:spPr>
            <a:xfrm flipH="1">
              <a:off x="7547052" y="2857500"/>
              <a:ext cx="1181100" cy="1"/>
            </a:xfrm>
            <a:prstGeom prst="line">
              <a:avLst/>
            </a:prstGeom>
            <a:noFill/>
            <a:ln w="28575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762375" y="2466975"/>
              <a:ext cx="600075" cy="228600"/>
            </a:xfrm>
            <a:prstGeom prst="roundRect">
              <a:avLst>
                <a:gd name="adj" fmla="val 50000"/>
              </a:avLst>
            </a:prstGeom>
            <a:solidFill>
              <a:srgbClr val="42D6C7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09215" y="2531745"/>
              <a:ext cx="306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1 : N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848600" y="2466975"/>
              <a:ext cx="600075" cy="228600"/>
            </a:xfrm>
            <a:prstGeom prst="roundRect">
              <a:avLst>
                <a:gd name="adj" fmla="val 50000"/>
              </a:avLst>
            </a:prstGeom>
            <a:solidFill>
              <a:srgbClr val="42D6C7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95440" y="2531745"/>
              <a:ext cx="306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N : 1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85800" y="4514850"/>
            <a:ext cx="10820400" cy="1390650"/>
            <a:chOff x="685800" y="4514850"/>
            <a:chExt cx="10820400" cy="1390650"/>
          </a:xfrm>
        </p:grpSpPr>
        <p:sp>
          <p:nvSpPr>
            <p:cNvPr id="46" name="Line 46"/>
            <p:cNvSpPr/>
            <p:nvPr/>
          </p:nvSpPr>
          <p:spPr>
            <a:xfrm>
              <a:off x="685800" y="451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727074" y="4855883"/>
              <a:ext cx="170127" cy="175162"/>
              <a:chOff x="727074" y="4855883"/>
              <a:chExt cx="170127" cy="175162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78669" y="4912519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799306" y="4855883"/>
                <a:ext cx="97895" cy="97911"/>
              </a:xfrm>
              <a:custGeom>
                <a:avLst/>
                <a:gdLst/>
                <a:ahLst/>
                <a:cxnLst/>
                <a:rect l="l" t="t" r="r" b="b"/>
                <a:pathLst>
                  <a:path w="97895" h="97911">
                    <a:moveTo>
                      <a:pt x="0" y="25679"/>
                    </a:moveTo>
                    <a:lnTo>
                      <a:pt x="4778" y="20148"/>
                    </a:lnTo>
                    <a:cubicBezTo>
                      <a:pt x="24929" y="0"/>
                      <a:pt x="57598" y="2"/>
                      <a:pt x="77747" y="20154"/>
                    </a:cubicBezTo>
                    <a:cubicBezTo>
                      <a:pt x="97895" y="40305"/>
                      <a:pt x="97893" y="72974"/>
                      <a:pt x="77741" y="93123"/>
                    </a:cubicBezTo>
                    <a:lnTo>
                      <a:pt x="72231" y="97911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727074" y="4933156"/>
                <a:ext cx="92870" cy="97889"/>
              </a:xfrm>
              <a:custGeom>
                <a:avLst/>
                <a:gdLst/>
                <a:ahLst/>
                <a:cxnLst/>
                <a:rect l="l" t="t" r="r" b="b"/>
                <a:pathLst>
                  <a:path w="92870" h="97889">
                    <a:moveTo>
                      <a:pt x="92870" y="72231"/>
                    </a:moveTo>
                    <a:lnTo>
                      <a:pt x="88774" y="77741"/>
                    </a:lnTo>
                    <a:cubicBezTo>
                      <a:pt x="68399" y="97889"/>
                      <a:pt x="35606" y="97889"/>
                      <a:pt x="15232" y="77741"/>
                    </a:cubicBezTo>
                    <a:cubicBezTo>
                      <a:pt x="5485" y="68104"/>
                      <a:pt x="0" y="54967"/>
                      <a:pt x="0" y="41260"/>
                    </a:cubicBezTo>
                    <a:cubicBezTo>
                      <a:pt x="0" y="27552"/>
                      <a:pt x="5485" y="14415"/>
                      <a:pt x="15232" y="4778"/>
                    </a:cubicBezTo>
                    <a:lnTo>
                      <a:pt x="20639" y="0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1051560" y="4880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6B94D"/>
                  </a:solidFill>
                  <a:latin typeface="Arial"/>
                  <a:ea typeface="Microsoft YaHei"/>
                  <a:cs typeface="Arial"/>
                </a:rPr>
                <a:t>关联去重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3465" y="5163502"/>
              <a:ext cx="1320165" cy="3933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418"/>
                </a:lnSpc>
              </a:pPr>
              <a:r>
                <a:rPr lang="zh-CN" sz="10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复合 PK 防止同一文件重复加入同一知识库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3810000" y="4762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4242594" y="4860925"/>
              <a:ext cx="144462" cy="165100"/>
              <a:chOff x="4242594" y="4860925"/>
              <a:chExt cx="144462" cy="1651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4242594" y="4912519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4242594" y="4974431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4263231" y="4860925"/>
                <a:ext cx="4127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165100">
                    <a:moveTo>
                      <a:pt x="41275" y="0"/>
                    </a:moveTo>
                    <a:lnTo>
                      <a:pt x="0" y="16510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4325144" y="4860925"/>
                <a:ext cx="4127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165100">
                    <a:moveTo>
                      <a:pt x="41275" y="0"/>
                    </a:moveTo>
                    <a:lnTo>
                      <a:pt x="0" y="16510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4556760" y="4880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内容去重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58665" y="5163502"/>
              <a:ext cx="1360170" cy="3933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418"/>
                </a:lnSpc>
              </a:pPr>
              <a:r>
                <a:rPr lang="zh-CN" sz="10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(user_id, file_hash)活跃文件范围内唯一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7772400" y="4762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8204994" y="4850606"/>
              <a:ext cx="144463" cy="185738"/>
              <a:chOff x="8204994" y="4850606"/>
              <a:chExt cx="144463" cy="185738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204994" y="4933156"/>
                <a:ext cx="144463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03188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23825" y="0"/>
                    </a:lnTo>
                    <a:cubicBezTo>
                      <a:pt x="135223" y="0"/>
                      <a:pt x="144463" y="9240"/>
                      <a:pt x="144463" y="20638"/>
                    </a:cubicBezTo>
                    <a:lnTo>
                      <a:pt x="144463" y="82550"/>
                    </a:lnTo>
                    <a:cubicBezTo>
                      <a:pt x="144463" y="93948"/>
                      <a:pt x="135223" y="103188"/>
                      <a:pt x="123825" y="103188"/>
                    </a:cubicBezTo>
                    <a:lnTo>
                      <a:pt x="20638" y="103188"/>
                    </a:lnTo>
                    <a:cubicBezTo>
                      <a:pt x="9240" y="103188"/>
                      <a:pt x="0" y="93948"/>
                      <a:pt x="0" y="82550"/>
                    </a:cubicBez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F0808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8266906" y="4974431"/>
                <a:ext cx="20638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8" y="16018"/>
                      <a:pt x="20638" y="10319"/>
                    </a:cubicBezTo>
                    <a:cubicBezTo>
                      <a:pt x="20638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F0808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8235950" y="4850606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82550"/>
                    </a:move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cubicBezTo>
                      <a:pt x="64071" y="0"/>
                      <a:pt x="82550" y="18479"/>
                      <a:pt x="82550" y="41275"/>
                    </a:cubicBezTo>
                    <a:lnTo>
                      <a:pt x="82550" y="82550"/>
                    </a:lnTo>
                  </a:path>
                </a:pathLst>
              </a:custGeom>
              <a:noFill/>
              <a:ln w="19050">
                <a:solidFill>
                  <a:srgbClr val="F0808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8519160" y="48806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08080"/>
                  </a:solidFill>
                  <a:latin typeface="Arial"/>
                  <a:ea typeface="Microsoft YaHei"/>
                  <a:cs typeface="Arial"/>
                </a:rPr>
                <a:t>删除与一致性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21065" y="5163502"/>
              <a:ext cx="1480185" cy="3933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418"/>
                </a:lnSpc>
              </a:pPr>
              <a:r>
                <a:rPr lang="zh-CN" sz="10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解绑需删除桥接记录应用层校验两侧 user_id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23875" y="6419850"/>
            <a:ext cx="11144250" cy="280988"/>
            <a:chOff x="523875" y="6419850"/>
            <a:chExt cx="11144250" cy="280988"/>
          </a:xfrm>
        </p:grpSpPr>
        <p:sp>
          <p:nvSpPr>
            <p:cNvPr id="69" name="Line 69"/>
            <p:cNvSpPr/>
            <p:nvPr/>
          </p:nvSpPr>
          <p:spPr>
            <a:xfrm>
              <a:off x="533400" y="6419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23875" y="6548438"/>
              <a:ext cx="33194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F819C"/>
                  </a:solidFill>
                  <a:latin typeface="Arial"/>
                  <a:ea typeface="Microsoft YaHei"/>
                  <a:cs typeface="Arial"/>
                </a:rPr>
                <a:t>注：DDL 未声明 FOREIGN KEY；关系依据字段命名、类型与业务语义推断。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33561" y="654843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400050" y="-809625"/>
            <a:ext cx="13211175" cy="8667750"/>
            <a:chOff x="-400050" y="-809625"/>
            <a:chExt cx="13211175" cy="8667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8111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Ellipse 4"/>
            <p:cNvSpPr/>
            <p:nvPr/>
          </p:nvSpPr>
          <p:spPr>
            <a:xfrm>
              <a:off x="9572625" y="-809625"/>
              <a:ext cx="3238500" cy="3238500"/>
            </a:xfrm>
            <a:prstGeom prst="ellipse">
              <a:avLst/>
            </a:prstGeom>
            <a:solidFill>
              <a:srgbClr val="7C9CFF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Ellipse 5"/>
            <p:cNvSpPr/>
            <p:nvPr/>
          </p:nvSpPr>
          <p:spPr>
            <a:xfrm>
              <a:off x="-400050" y="5000625"/>
              <a:ext cx="2857500" cy="2857500"/>
            </a:xfrm>
            <a:prstGeom prst="ellipse">
              <a:avLst/>
            </a:prstGeom>
            <a:solidFill>
              <a:srgbClr val="42D6C7">
                <a:alpha val="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9110" y="321945"/>
            <a:ext cx="11169015" cy="906780"/>
            <a:chOff x="499110" y="321945"/>
            <a:chExt cx="11169015" cy="90678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321945"/>
              <a:ext cx="25557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KNOWLEDGE BASE · CONVERSATION CONTEXT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97281" y="338138"/>
              <a:ext cx="37084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05 / 06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9110" y="5086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5F7FA"/>
                  </a:solidFill>
                  <a:latin typeface="Arial Black"/>
                  <a:ea typeface="SimHei"/>
                  <a:cs typeface="Arial Black"/>
                </a:rPr>
                <a:t>知识库与会话：上下文边界依赖所有权一致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6255" y="921068"/>
              <a:ext cx="52549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索引提升查询效率，但不会自动保证会话和知识库属于同一用户。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33400" y="1219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" y="1676400"/>
            <a:ext cx="6191250" cy="4248150"/>
            <a:chOff x="533400" y="1676400"/>
            <a:chExt cx="6191250" cy="4248150"/>
          </a:xfrm>
        </p:grpSpPr>
        <p:sp>
          <p:nvSpPr>
            <p:cNvPr id="13" name="Rectangle 13"/>
            <p:cNvSpPr/>
            <p:nvPr/>
          </p:nvSpPr>
          <p:spPr>
            <a:xfrm>
              <a:off x="533400" y="1676400"/>
              <a:ext cx="6191250" cy="4248150"/>
            </a:xfrm>
            <a:prstGeom prst="roundRect">
              <a:avLst>
                <a:gd name="adj" fmla="val 3587"/>
              </a:avLst>
            </a:prstGeom>
            <a:solidFill>
              <a:srgbClr val="0E1B30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6760" y="18516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所有权与上下文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2876550"/>
              <a:ext cx="1809750" cy="1200150"/>
            </a:xfrm>
            <a:prstGeom prst="roundRect">
              <a:avLst>
                <a:gd name="adj" fmla="val 9524"/>
              </a:avLst>
            </a:prstGeom>
            <a:solidFill>
              <a:srgbClr val="13233D"/>
            </a:solidFill>
            <a:ln w="9525">
              <a:solidFill>
                <a:srgbClr val="F6B94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185862" y="3145631"/>
              <a:ext cx="161925" cy="242887"/>
              <a:chOff x="1185862" y="3145631"/>
              <a:chExt cx="161925" cy="2428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212850" y="31456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1185862" y="3307556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087755" y="3502342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users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1565" y="37633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所有权根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000500" y="2095500"/>
              <a:ext cx="2190750" cy="1257300"/>
            </a:xfrm>
            <a:prstGeom prst="roundRect">
              <a:avLst>
                <a:gd name="adj" fmla="val 9091"/>
              </a:avLst>
            </a:prstGeom>
            <a:solidFill>
              <a:srgbClr val="13233D"/>
            </a:solidFill>
            <a:ln w="9525">
              <a:solidFill>
                <a:srgbClr val="42D6C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4283075" y="2364581"/>
              <a:ext cx="215900" cy="242888"/>
              <a:chOff x="4283075" y="2364581"/>
              <a:chExt cx="215900" cy="24288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283075" y="236458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4283075" y="240506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4283075" y="248602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211955" y="2711768"/>
              <a:ext cx="15842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knowledge_bases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5765" y="2991802"/>
              <a:ext cx="13351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user_id → users.id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00500" y="4267200"/>
              <a:ext cx="2190750" cy="1257300"/>
            </a:xfrm>
            <a:prstGeom prst="roundRect">
              <a:avLst>
                <a:gd name="adj" fmla="val 9091"/>
              </a:avLst>
            </a:prstGeom>
            <a:solidFill>
              <a:srgbClr val="13233D"/>
            </a:solidFill>
            <a:ln w="9525">
              <a:solidFill>
                <a:srgbClr val="7C9CF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4269581" y="4536281"/>
              <a:ext cx="242888" cy="242888"/>
              <a:chOff x="4269581" y="4536281"/>
              <a:chExt cx="242888" cy="2428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364038" y="4536281"/>
                <a:ext cx="148431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148431" h="148431">
                    <a:moveTo>
                      <a:pt x="148431" y="148431"/>
                    </a:moveTo>
                    <a:lnTo>
                      <a:pt x="107950" y="107950"/>
                    </a:lnTo>
                    <a:lnTo>
                      <a:pt x="13494" y="107950"/>
                    </a:lnTo>
                    <a:cubicBezTo>
                      <a:pt x="6041" y="107950"/>
                      <a:pt x="0" y="101909"/>
                      <a:pt x="0" y="94456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lnTo>
                      <a:pt x="134937" y="0"/>
                    </a:lnTo>
                    <a:cubicBezTo>
                      <a:pt x="142390" y="0"/>
                      <a:pt x="148431" y="6041"/>
                      <a:pt x="148431" y="13494"/>
                    </a:cubicBezTo>
                    <a:lnTo>
                      <a:pt x="148431" y="148431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4269581" y="4630738"/>
                <a:ext cx="148431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148431" h="148431">
                    <a:moveTo>
                      <a:pt x="148431" y="67469"/>
                    </a:moveTo>
                    <a:lnTo>
                      <a:pt x="148431" y="94456"/>
                    </a:lnTo>
                    <a:cubicBezTo>
                      <a:pt x="148431" y="101909"/>
                      <a:pt x="142390" y="107950"/>
                      <a:pt x="134938" y="107950"/>
                    </a:cubicBezTo>
                    <a:lnTo>
                      <a:pt x="40481" y="107950"/>
                    </a:lnTo>
                    <a:lnTo>
                      <a:pt x="0" y="148431"/>
                    </a:ln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lnTo>
                      <a:pt x="40481" y="0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4211955" y="4883468"/>
              <a:ext cx="13385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conversations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17670" y="5179695"/>
              <a:ext cx="1761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C9CFF"/>
                  </a:solidFill>
                  <a:latin typeface="Consolas"/>
                  <a:ea typeface="Microsoft YaHei"/>
                  <a:cs typeface="Consolas"/>
                </a:rPr>
                <a:t>user_id + knowledge_base_id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2686050" y="2724150"/>
              <a:ext cx="1276350" cy="609600"/>
            </a:xfrm>
            <a:custGeom>
              <a:avLst/>
              <a:gdLst/>
              <a:ahLst/>
              <a:cxnLst/>
              <a:rect l="l" t="t" r="r" b="b"/>
              <a:pathLst>
                <a:path w="1276350" h="609600">
                  <a:moveTo>
                    <a:pt x="0" y="609600"/>
                  </a:moveTo>
                  <a:cubicBezTo>
                    <a:pt x="552450" y="609600"/>
                    <a:pt x="647700" y="0"/>
                    <a:pt x="1276350" y="0"/>
                  </a:cubicBezTo>
                </a:path>
              </a:pathLst>
            </a:custGeom>
            <a:noFill/>
            <a:ln w="28575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2686050" y="3638550"/>
              <a:ext cx="1276350" cy="1257300"/>
            </a:xfrm>
            <a:custGeom>
              <a:avLst/>
              <a:gdLst/>
              <a:ahLst/>
              <a:cxnLst/>
              <a:rect l="l" t="t" r="r" b="b"/>
              <a:pathLst>
                <a:path w="1276350" h="1257300">
                  <a:moveTo>
                    <a:pt x="0" y="0"/>
                  </a:moveTo>
                  <a:cubicBezTo>
                    <a:pt x="590550" y="0"/>
                    <a:pt x="647700" y="1257300"/>
                    <a:pt x="1276350" y="1257300"/>
                  </a:cubicBezTo>
                </a:path>
              </a:pathLst>
            </a:custGeom>
            <a:noFill/>
            <a:ln w="28575">
              <a:solidFill>
                <a:srgbClr val="7C9CFF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6"/>
            <p:cNvSpPr/>
            <p:nvPr/>
          </p:nvSpPr>
          <p:spPr>
            <a:xfrm>
              <a:off x="5095875" y="3352800"/>
              <a:ext cx="1" cy="876300"/>
            </a:xfrm>
            <a:prstGeom prst="line">
              <a:avLst/>
            </a:prstGeom>
            <a:noFill/>
            <a:ln w="28575">
              <a:solidFill>
                <a:srgbClr val="7C9CFF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219700" y="3676650"/>
              <a:ext cx="600075" cy="228600"/>
            </a:xfrm>
            <a:prstGeom prst="roundRect">
              <a:avLst>
                <a:gd name="adj" fmla="val 50000"/>
              </a:avLst>
            </a:prstGeom>
            <a:solidFill>
              <a:srgbClr val="7C9CFF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66540" y="3741420"/>
              <a:ext cx="306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9CFF"/>
                  </a:solidFill>
                  <a:latin typeface="Arial"/>
                  <a:ea typeface="Microsoft YaHei"/>
                  <a:cs typeface="Arial"/>
                </a:rPr>
                <a:t>1 : 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76300" y="4591050"/>
              <a:ext cx="2343150" cy="781050"/>
            </a:xfrm>
            <a:prstGeom prst="roundRect">
              <a:avLst>
                <a:gd name="adj" fmla="val 12195"/>
              </a:avLst>
            </a:prstGeom>
            <a:solidFill>
              <a:srgbClr val="F08080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1063471" y="4791075"/>
              <a:ext cx="186006" cy="171450"/>
              <a:chOff x="1063471" y="4791075"/>
              <a:chExt cx="186006" cy="1714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63471" y="4791075"/>
                <a:ext cx="186006" cy="169983"/>
              </a:xfrm>
              <a:custGeom>
                <a:avLst/>
                <a:gdLst/>
                <a:ahLst/>
                <a:cxnLst/>
                <a:rect l="l" t="t" r="r" b="b"/>
                <a:pathLst>
                  <a:path w="186006" h="169983">
                    <a:moveTo>
                      <a:pt x="93436" y="169983"/>
                    </a:moveTo>
                    <a:cubicBezTo>
                      <a:pt x="33766" y="151487"/>
                      <a:pt x="0" y="88510"/>
                      <a:pt x="17617" y="28575"/>
                    </a:cubicBezTo>
                    <a:cubicBezTo>
                      <a:pt x="47292" y="29933"/>
                      <a:pt x="76331" y="19684"/>
                      <a:pt x="98579" y="0"/>
                    </a:cubicBezTo>
                    <a:cubicBezTo>
                      <a:pt x="120828" y="19684"/>
                      <a:pt x="149867" y="29933"/>
                      <a:pt x="179542" y="28575"/>
                    </a:cubicBezTo>
                    <a:cubicBezTo>
                      <a:pt x="186006" y="50569"/>
                      <a:pt x="185708" y="73999"/>
                      <a:pt x="178685" y="95821"/>
                    </a:cubicBezTo>
                  </a:path>
                </a:pathLst>
              </a:custGeom>
              <a:noFill/>
              <a:ln w="19050">
                <a:solidFill>
                  <a:srgbClr val="F0808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1190625" y="49244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0808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379220" y="4836795"/>
              <a:ext cx="1607058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215"/>
                </a:lnSpc>
              </a:pPr>
              <a:r>
                <a:rPr lang="zh-CN" sz="900" b="1" dirty="0">
                  <a:solidFill>
                    <a:srgbClr val="F08080"/>
                  </a:solidFill>
                  <a:latin typeface="Arial"/>
                  <a:ea typeface="Microsoft YaHei"/>
                  <a:cs typeface="Arial"/>
                </a:rPr>
                <a:t>必须满足：两表 user_id 相同且知识库未被软删除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067550" y="1676400"/>
            <a:ext cx="4591050" cy="4248150"/>
            <a:chOff x="7067550" y="1676400"/>
            <a:chExt cx="4591050" cy="4248150"/>
          </a:xfrm>
        </p:grpSpPr>
        <p:sp>
          <p:nvSpPr>
            <p:cNvPr id="45" name="Rectangle 45"/>
            <p:cNvSpPr/>
            <p:nvPr/>
          </p:nvSpPr>
          <p:spPr>
            <a:xfrm>
              <a:off x="7067550" y="1676400"/>
              <a:ext cx="4591050" cy="4248150"/>
            </a:xfrm>
            <a:prstGeom prst="roundRect">
              <a:avLst>
                <a:gd name="adj" fmla="val 3587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99960" y="187071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查询路径与责任边界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7348538" y="2376488"/>
              <a:ext cx="200025" cy="200025"/>
              <a:chOff x="7348538" y="2376488"/>
              <a:chExt cx="200025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48538" y="237648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8"/>
                      <a:pt x="34827" y="155575"/>
                      <a:pt x="77787" y="155575"/>
                    </a:cubicBezTo>
                    <a:cubicBezTo>
                      <a:pt x="120748" y="155575"/>
                      <a:pt x="155575" y="120748"/>
                      <a:pt x="155575" y="77788"/>
                    </a:cubicBezTo>
                    <a:cubicBezTo>
                      <a:pt x="155575" y="34827"/>
                      <a:pt x="120748" y="0"/>
                      <a:pt x="77787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7481888" y="25098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7700010" y="240411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按知识库列出会话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01915" y="2667952"/>
              <a:ext cx="2609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idx_conversations_knowledge_base_id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315200" y="302895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7348538" y="3328988"/>
              <a:ext cx="200025" cy="200025"/>
              <a:chOff x="7348538" y="3328988"/>
              <a:chExt cx="200025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48538" y="332898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8"/>
                      <a:pt x="34827" y="155575"/>
                      <a:pt x="77787" y="155575"/>
                    </a:cubicBezTo>
                    <a:cubicBezTo>
                      <a:pt x="120748" y="155575"/>
                      <a:pt x="155575" y="120748"/>
                      <a:pt x="155575" y="77788"/>
                    </a:cubicBezTo>
                    <a:cubicBezTo>
                      <a:pt x="155575" y="34827"/>
                      <a:pt x="120748" y="0"/>
                      <a:pt x="77787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7481888" y="34623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7700010" y="3356610"/>
              <a:ext cx="22399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C9CFF"/>
                  </a:solidFill>
                  <a:latin typeface="Arial"/>
                  <a:ea typeface="Microsoft YaHei"/>
                  <a:cs typeface="Arial"/>
                </a:rPr>
                <a:t>按用户 + 知识库列出活跃会话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01915" y="3620452"/>
              <a:ext cx="2667000" cy="3933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418"/>
                </a:lnSpc>
              </a:pPr>
              <a:r>
                <a:rPr lang="zh-CN" sz="1050" dirty="0">
                  <a:solidFill>
                    <a:srgbClr val="AAB7CC"/>
                  </a:solidFill>
                  <a:latin typeface="Consolas"/>
                  <a:ea typeface="Microsoft YaHei"/>
                  <a:cs typeface="Consolas"/>
                </a:rPr>
                <a:t>idx_conversations_user_knowledge_base WHERE deleted_at IS NULL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7315200" y="421005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7370762" y="4510088"/>
              <a:ext cx="155575" cy="200025"/>
              <a:chOff x="7370762" y="4510088"/>
              <a:chExt cx="155575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70762" y="4598988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0808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7437438" y="46434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2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2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0808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7404100" y="45100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889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88900"/>
                    </a:lnTo>
                  </a:path>
                </a:pathLst>
              </a:custGeom>
              <a:noFill/>
              <a:ln w="19050">
                <a:solidFill>
                  <a:srgbClr val="F0808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" name="TextBox 63"/>
            <p:cNvSpPr txBox="1"/>
            <p:nvPr/>
          </p:nvSpPr>
          <p:spPr>
            <a:xfrm>
              <a:off x="7700010" y="453771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08080"/>
                  </a:solidFill>
                  <a:latin typeface="Arial"/>
                  <a:ea typeface="Microsoft YaHei"/>
                  <a:cs typeface="Arial"/>
                </a:rPr>
                <a:t>索引不等于完整性约束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01915" y="4820602"/>
              <a:ext cx="2026920" cy="3933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418"/>
                </a:lnSpc>
              </a:pPr>
              <a:r>
                <a:rPr lang="zh-CN" sz="10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DDL 没有 FK 或跨表 CHECK；同一用户校验必须由应用层完成。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315200" y="5429250"/>
              <a:ext cx="4095750" cy="304800"/>
            </a:xfrm>
            <a:prstGeom prst="roundRect">
              <a:avLst>
                <a:gd name="adj" fmla="val 50000"/>
              </a:avLst>
            </a:prstGeom>
            <a:solidFill>
              <a:srgbClr val="F6B94D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28480" y="5532120"/>
              <a:ext cx="26691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knowledge_base_id NOT NULL 固定会话上下文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23875" y="6419850"/>
            <a:ext cx="11144250" cy="280988"/>
            <a:chOff x="523875" y="6419850"/>
            <a:chExt cx="11144250" cy="280988"/>
          </a:xfrm>
        </p:grpSpPr>
        <p:sp>
          <p:nvSpPr>
            <p:cNvPr id="68" name="Line 68"/>
            <p:cNvSpPr/>
            <p:nvPr/>
          </p:nvSpPr>
          <p:spPr>
            <a:xfrm>
              <a:off x="533400" y="6419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3875" y="6548438"/>
              <a:ext cx="33194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F819C"/>
                  </a:solidFill>
                  <a:latin typeface="Arial"/>
                  <a:ea typeface="Microsoft YaHei"/>
                  <a:cs typeface="Arial"/>
                </a:rPr>
                <a:t>注：DDL 未声明 FOREIGN KEY；关系依据字段命名、类型与业务语义推断。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33561" y="654843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400050" y="-809625"/>
            <a:ext cx="13211175" cy="8667750"/>
            <a:chOff x="-400050" y="-809625"/>
            <a:chExt cx="13211175" cy="8667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8111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2D6C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Ellipse 4"/>
            <p:cNvSpPr/>
            <p:nvPr/>
          </p:nvSpPr>
          <p:spPr>
            <a:xfrm>
              <a:off x="9572625" y="-809625"/>
              <a:ext cx="3238500" cy="3238500"/>
            </a:xfrm>
            <a:prstGeom prst="ellipse">
              <a:avLst/>
            </a:prstGeom>
            <a:solidFill>
              <a:srgbClr val="7C9CFF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Ellipse 5"/>
            <p:cNvSpPr/>
            <p:nvPr/>
          </p:nvSpPr>
          <p:spPr>
            <a:xfrm>
              <a:off x="-400050" y="5000625"/>
              <a:ext cx="2857500" cy="2857500"/>
            </a:xfrm>
            <a:prstGeom prst="ellipse">
              <a:avLst/>
            </a:prstGeom>
            <a:solidFill>
              <a:srgbClr val="42D6C7">
                <a:alpha val="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9110" y="321945"/>
            <a:ext cx="11169015" cy="906780"/>
            <a:chOff x="499110" y="321945"/>
            <a:chExt cx="11169015" cy="90678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321945"/>
              <a:ext cx="21462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2D6C7"/>
                  </a:solidFill>
                  <a:latin typeface="Arial"/>
                  <a:ea typeface="Microsoft YaHei"/>
                  <a:cs typeface="Arial"/>
                </a:rPr>
                <a:t>CONVERSATION · MESSAGE SEQUENCE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97281" y="338138"/>
              <a:ext cx="37084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06 / 06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9110" y="508635"/>
              <a:ext cx="68734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5F7FA"/>
                  </a:solidFill>
                  <a:latin typeface="Arial Black"/>
                  <a:ea typeface="SimHei"/>
                  <a:cs typeface="Arial Black"/>
                </a:rPr>
                <a:t>会话与消息：角色化记录按时间持续追加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6255" y="921068"/>
              <a:ext cx="65241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写入方向在用户与助手之间往返，但所有消息都归档到同一个 conversation_id。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33400" y="1219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14350" y="1581150"/>
            <a:ext cx="10191750" cy="3981450"/>
            <a:chOff x="514350" y="1581150"/>
            <a:chExt cx="10191750" cy="3981450"/>
          </a:xfrm>
        </p:grpSpPr>
        <p:sp>
          <p:nvSpPr>
            <p:cNvPr id="13" name="Rectangle 13"/>
            <p:cNvSpPr/>
            <p:nvPr/>
          </p:nvSpPr>
          <p:spPr>
            <a:xfrm>
              <a:off x="514350" y="1581150"/>
              <a:ext cx="1676400" cy="552450"/>
            </a:xfrm>
            <a:prstGeom prst="roundRect">
              <a:avLst>
                <a:gd name="adj" fmla="val 20690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747712" y="1754981"/>
              <a:ext cx="123825" cy="185737"/>
              <a:chOff x="747712" y="1754981"/>
              <a:chExt cx="123825" cy="18573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68350" y="1754981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747712" y="1878806"/>
                <a:ext cx="1238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61912">
                    <a:moveTo>
                      <a:pt x="0" y="61912"/>
                    </a:move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lnTo>
                      <a:pt x="82550" y="0"/>
                    </a:lnTo>
                    <a:cubicBezTo>
                      <a:pt x="105346" y="0"/>
                      <a:pt x="123825" y="18479"/>
                      <a:pt x="123825" y="41275"/>
                    </a:cubicBezTo>
                    <a:lnTo>
                      <a:pt x="123825" y="61912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034415" y="1810702"/>
              <a:ext cx="9308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用户 / 客户端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352550" y="21336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2B4163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352800" y="1581150"/>
              <a:ext cx="1676400" cy="552450"/>
            </a:xfrm>
            <a:prstGeom prst="roundRect">
              <a:avLst>
                <a:gd name="adj" fmla="val 20690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3555206" y="1754981"/>
              <a:ext cx="185738" cy="185738"/>
              <a:chOff x="3555206" y="1754981"/>
              <a:chExt cx="185738" cy="1857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555206" y="1754981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20637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65100" y="0"/>
                    </a:lnTo>
                    <a:cubicBezTo>
                      <a:pt x="176498" y="0"/>
                      <a:pt x="185738" y="9240"/>
                      <a:pt x="185738" y="20637"/>
                    </a:cubicBezTo>
                    <a:lnTo>
                      <a:pt x="185738" y="165100"/>
                    </a:lnTo>
                    <a:cubicBezTo>
                      <a:pt x="185738" y="176498"/>
                      <a:pt x="176498" y="185738"/>
                      <a:pt x="165100" y="185738"/>
                    </a:cubicBezTo>
                    <a:lnTo>
                      <a:pt x="20638" y="185738"/>
                    </a:lnTo>
                    <a:cubicBezTo>
                      <a:pt x="9240" y="185738"/>
                      <a:pt x="0" y="176498"/>
                      <a:pt x="0" y="165100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3555206" y="1827212"/>
                <a:ext cx="1857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525">
                    <a:moveTo>
                      <a:pt x="0" y="0"/>
                    </a:moveTo>
                    <a:lnTo>
                      <a:pt x="185738" y="0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3627438" y="1754981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872865" y="1810702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conversations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191000" y="21336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2B4163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191250" y="1581150"/>
              <a:ext cx="1676400" cy="552450"/>
            </a:xfrm>
            <a:prstGeom prst="roundRect">
              <a:avLst>
                <a:gd name="adj" fmla="val 20690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393656" y="1754981"/>
              <a:ext cx="185738" cy="185737"/>
              <a:chOff x="6393656" y="1754981"/>
              <a:chExt cx="185738" cy="18573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465888" y="1754981"/>
                <a:ext cx="113506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113506">
                    <a:moveTo>
                      <a:pt x="113506" y="113506"/>
                    </a:moveTo>
                    <a:lnTo>
                      <a:pt x="82550" y="82550"/>
                    </a:lnTo>
                    <a:lnTo>
                      <a:pt x="10319" y="82550"/>
                    </a:lnTo>
                    <a:cubicBezTo>
                      <a:pt x="4620" y="82550"/>
                      <a:pt x="0" y="77930"/>
                      <a:pt x="0" y="72231"/>
                    </a:cubicBezTo>
                    <a:lnTo>
                      <a:pt x="0" y="10319"/>
                    </a:lnTo>
                    <a:cubicBezTo>
                      <a:pt x="0" y="4620"/>
                      <a:pt x="4620" y="0"/>
                      <a:pt x="10319" y="0"/>
                    </a:cubicBezTo>
                    <a:lnTo>
                      <a:pt x="103187" y="0"/>
                    </a:lnTo>
                    <a:cubicBezTo>
                      <a:pt x="108886" y="0"/>
                      <a:pt x="113506" y="4620"/>
                      <a:pt x="113506" y="10319"/>
                    </a:cubicBezTo>
                    <a:lnTo>
                      <a:pt x="113506" y="113506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6393656" y="1827212"/>
                <a:ext cx="113506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113506">
                    <a:moveTo>
                      <a:pt x="113506" y="51594"/>
                    </a:moveTo>
                    <a:lnTo>
                      <a:pt x="113506" y="72231"/>
                    </a:lnTo>
                    <a:cubicBezTo>
                      <a:pt x="113506" y="77930"/>
                      <a:pt x="108886" y="82550"/>
                      <a:pt x="103188" y="82550"/>
                    </a:cubicBezTo>
                    <a:lnTo>
                      <a:pt x="30956" y="82550"/>
                    </a:lnTo>
                    <a:lnTo>
                      <a:pt x="0" y="113506"/>
                    </a:lnTo>
                    <a:lnTo>
                      <a:pt x="0" y="10319"/>
                    </a:lnTo>
                    <a:cubicBezTo>
                      <a:pt x="0" y="4620"/>
                      <a:pt x="4620" y="0"/>
                      <a:pt x="10319" y="0"/>
                    </a:cubicBez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7C9C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6711315" y="1810702"/>
              <a:ext cx="702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messages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029450" y="21336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2B4163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29700" y="1581150"/>
              <a:ext cx="1676400" cy="552450"/>
            </a:xfrm>
            <a:prstGeom prst="roundRect">
              <a:avLst>
                <a:gd name="adj" fmla="val 20690"/>
              </a:avLst>
            </a:prstGeom>
            <a:solidFill>
              <a:srgbClr val="13233D"/>
            </a:solidFill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9242425" y="1754981"/>
              <a:ext cx="165100" cy="185738"/>
              <a:chOff x="9242425" y="1754981"/>
              <a:chExt cx="165100" cy="18573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242425" y="1754981"/>
                <a:ext cx="165100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100" y="48053"/>
                      <a:pt x="165100" y="30956"/>
                    </a:cubicBezTo>
                    <a:cubicBezTo>
                      <a:pt x="165100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9242425" y="1785938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9242425" y="1847850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42D6C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9549765" y="18107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Arial"/>
                  <a:ea typeface="Microsoft YaHei"/>
                  <a:cs typeface="Arial"/>
                </a:rPr>
                <a:t>助手服务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9867900" y="21336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2B4163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52550" y="2095500"/>
            <a:ext cx="8515350" cy="2876551"/>
            <a:chOff x="1352550" y="2095500"/>
            <a:chExt cx="8515350" cy="2876551"/>
          </a:xfrm>
        </p:grpSpPr>
        <p:sp>
          <p:nvSpPr>
            <p:cNvPr id="40" name="Line 40"/>
            <p:cNvSpPr/>
            <p:nvPr/>
          </p:nvSpPr>
          <p:spPr>
            <a:xfrm>
              <a:off x="1352550" y="2381250"/>
              <a:ext cx="2838450" cy="1"/>
            </a:xfrm>
            <a:prstGeom prst="line">
              <a:avLst/>
            </a:prstGeom>
            <a:noFill/>
            <a:ln w="23812">
              <a:solidFill>
                <a:srgbClr val="F6B94D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962150" y="2095500"/>
              <a:ext cx="1619250" cy="228600"/>
            </a:xfrm>
            <a:prstGeom prst="roundRect">
              <a:avLst>
                <a:gd name="adj" fmla="val 50000"/>
              </a:avLst>
            </a:prstGeom>
            <a:solidFill>
              <a:srgbClr val="08111F"/>
            </a:solidFill>
            <a:ln w="9525">
              <a:solidFill>
                <a:srgbClr val="F6B94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56282" y="2160270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6B94D"/>
                  </a:solidFill>
                  <a:latin typeface="Consolas"/>
                  <a:ea typeface="Microsoft YaHei"/>
                  <a:cs typeface="Consolas"/>
                </a:rPr>
                <a:t>1 创建 / 打开会话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1352550" y="3028950"/>
              <a:ext cx="5676900" cy="1"/>
            </a:xfrm>
            <a:prstGeom prst="line">
              <a:avLst/>
            </a:prstGeom>
            <a:noFill/>
            <a:ln w="23812">
              <a:solidFill>
                <a:srgbClr val="7C9CFF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290888" y="2743200"/>
              <a:ext cx="1800225" cy="228600"/>
            </a:xfrm>
            <a:prstGeom prst="roundRect">
              <a:avLst>
                <a:gd name="adj" fmla="val 50000"/>
              </a:avLst>
            </a:prstGeom>
            <a:solidFill>
              <a:srgbClr val="08111F"/>
            </a:solidFill>
            <a:ln w="9525">
              <a:solidFill>
                <a:srgbClr val="7C9CF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49491" y="2807970"/>
              <a:ext cx="1283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9CFF"/>
                  </a:solidFill>
                  <a:latin typeface="Consolas"/>
                  <a:ea typeface="Microsoft YaHei"/>
                  <a:cs typeface="Consolas"/>
                </a:rPr>
                <a:t>2 INSERT role='user'</a:t>
              </a:r>
            </a:p>
          </p:txBody>
        </p:sp>
        <p:sp>
          <p:nvSpPr>
            <p:cNvPr id="46" name="Line 46"/>
            <p:cNvSpPr/>
            <p:nvPr/>
          </p:nvSpPr>
          <p:spPr>
            <a:xfrm flipH="1">
              <a:off x="7029450" y="3676650"/>
              <a:ext cx="2838450" cy="1"/>
            </a:xfrm>
            <a:prstGeom prst="line">
              <a:avLst/>
            </a:prstGeom>
            <a:noFill/>
            <a:ln w="23812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334250" y="3390900"/>
              <a:ext cx="2228850" cy="228600"/>
            </a:xfrm>
            <a:prstGeom prst="roundRect">
              <a:avLst>
                <a:gd name="adj" fmla="val 50000"/>
              </a:avLst>
            </a:prstGeom>
            <a:solidFill>
              <a:srgbClr val="08111F"/>
            </a:solidFill>
            <a:ln w="9525">
              <a:solidFill>
                <a:srgbClr val="42D6C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79525" y="3455670"/>
              <a:ext cx="19382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3 按 conversation_id 读取上下文</a:t>
              </a:r>
            </a:p>
          </p:txBody>
        </p:sp>
        <p:sp>
          <p:nvSpPr>
            <p:cNvPr id="49" name="Line 49"/>
            <p:cNvSpPr/>
            <p:nvPr/>
          </p:nvSpPr>
          <p:spPr>
            <a:xfrm flipH="1">
              <a:off x="7029450" y="4324350"/>
              <a:ext cx="2838450" cy="1"/>
            </a:xfrm>
            <a:prstGeom prst="line">
              <a:avLst/>
            </a:prstGeom>
            <a:noFill/>
            <a:ln w="23812">
              <a:solidFill>
                <a:srgbClr val="42D6C7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34250" y="4038600"/>
              <a:ext cx="2228850" cy="228600"/>
            </a:xfrm>
            <a:prstGeom prst="roundRect">
              <a:avLst>
                <a:gd name="adj" fmla="val 50000"/>
              </a:avLst>
            </a:prstGeom>
            <a:solidFill>
              <a:srgbClr val="08111F"/>
            </a:solidFill>
            <a:ln w="9525">
              <a:solidFill>
                <a:srgbClr val="42D6C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49647" y="4103370"/>
              <a:ext cx="15980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2D6C7"/>
                  </a:solidFill>
                  <a:latin typeface="Consolas"/>
                  <a:ea typeface="Microsoft YaHei"/>
                  <a:cs typeface="Consolas"/>
                </a:rPr>
                <a:t>4 INSERT role='assistant'</a:t>
              </a:r>
            </a:p>
          </p:txBody>
        </p:sp>
        <p:sp>
          <p:nvSpPr>
            <p:cNvPr id="52" name="Line 52"/>
            <p:cNvSpPr/>
            <p:nvPr/>
          </p:nvSpPr>
          <p:spPr>
            <a:xfrm flipH="1">
              <a:off x="4191000" y="4972050"/>
              <a:ext cx="2838450" cy="1"/>
            </a:xfrm>
            <a:prstGeom prst="line">
              <a:avLst/>
            </a:prstGeom>
            <a:noFill/>
            <a:ln w="23812">
              <a:solidFill>
                <a:srgbClr val="7C9CFF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324350" y="4686300"/>
              <a:ext cx="2571750" cy="228600"/>
            </a:xfrm>
            <a:prstGeom prst="roundRect">
              <a:avLst>
                <a:gd name="adj" fmla="val 50000"/>
              </a:avLst>
            </a:prstGeom>
            <a:solidFill>
              <a:srgbClr val="08111F"/>
            </a:solidFill>
            <a:ln w="9525">
              <a:solidFill>
                <a:srgbClr val="7C9CF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84368" y="4751070"/>
              <a:ext cx="20517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9CFF"/>
                  </a:solidFill>
                  <a:latin typeface="Consolas"/>
                  <a:ea typeface="Microsoft YaHei"/>
                  <a:cs typeface="Consolas"/>
                </a:rPr>
                <a:t>5 刷新 conversations.updated_at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33400" y="5810250"/>
            <a:ext cx="11136630" cy="442912"/>
            <a:chOff x="533400" y="5810250"/>
            <a:chExt cx="11136630" cy="442912"/>
          </a:xfrm>
        </p:grpSpPr>
        <p:sp>
          <p:nvSpPr>
            <p:cNvPr id="56" name="Line 56"/>
            <p:cNvSpPr/>
            <p:nvPr/>
          </p:nvSpPr>
          <p:spPr>
            <a:xfrm>
              <a:off x="533400" y="5810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714375" y="6010275"/>
              <a:ext cx="171450" cy="171450"/>
              <a:chOff x="714375" y="6010275"/>
              <a:chExt cx="171450" cy="17145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14375" y="60102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800100" y="6048375"/>
                <a:ext cx="285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76200">
                    <a:moveTo>
                      <a:pt x="0" y="0"/>
                    </a:moveTo>
                    <a:lnTo>
                      <a:pt x="0" y="47625"/>
                    </a:lnTo>
                    <a:lnTo>
                      <a:pt x="28575" y="76200"/>
                    </a:lnTo>
                  </a:path>
                </a:pathLst>
              </a:custGeom>
              <a:noFill/>
              <a:ln w="19050">
                <a:solidFill>
                  <a:srgbClr val="F6B94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1015365" y="60398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6B94D"/>
                  </a:solidFill>
                  <a:latin typeface="Arial"/>
                  <a:ea typeface="Microsoft YaHei"/>
                  <a:cs typeface="Arial"/>
                </a:rPr>
                <a:t>稳定读取顺序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310765" y="6039802"/>
              <a:ext cx="1768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F7FA"/>
                  </a:solidFill>
                  <a:latin typeface="Consolas"/>
                  <a:ea typeface="Microsoft YaHei"/>
                  <a:cs typeface="Consolas"/>
                </a:rPr>
                <a:t>ORDER BY created_at, id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63465" y="60398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819C"/>
                  </a:solidFill>
                  <a:latin typeface="Arial"/>
                  <a:ea typeface="Microsoft YaHei"/>
                  <a:cs typeface="Arial"/>
                </a:rPr>
                <a:t>·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149215" y="6039802"/>
              <a:ext cx="2322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C"/>
                  </a:solidFill>
                  <a:latin typeface="Arial"/>
                  <a:ea typeface="Microsoft YaHei"/>
                  <a:cs typeface="Arial"/>
                </a:rPr>
                <a:t>role 标识发送方，content 保存正文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08153" y="6055995"/>
              <a:ext cx="1761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7C9CFF"/>
                  </a:solidFill>
                  <a:latin typeface="Consolas"/>
                  <a:ea typeface="Microsoft YaHei"/>
                  <a:cs typeface="Consolas"/>
                </a:rPr>
                <a:t>1 conversation : N messages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23875" y="6419850"/>
            <a:ext cx="11144250" cy="280988"/>
            <a:chOff x="523875" y="6419850"/>
            <a:chExt cx="11144250" cy="280988"/>
          </a:xfrm>
        </p:grpSpPr>
        <p:sp>
          <p:nvSpPr>
            <p:cNvPr id="66" name="Line 66"/>
            <p:cNvSpPr/>
            <p:nvPr/>
          </p:nvSpPr>
          <p:spPr>
            <a:xfrm>
              <a:off x="533400" y="6419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B41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23875" y="6548438"/>
              <a:ext cx="33194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F819C"/>
                  </a:solidFill>
                  <a:latin typeface="Arial"/>
                  <a:ea typeface="Microsoft YaHei"/>
                  <a:cs typeface="Arial"/>
                </a:rPr>
                <a:t>注：DDL 未声明 FOREIGN KEY；关系依据字段命名、类型与业务语义推断。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33561" y="6548438"/>
              <a:ext cx="1345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b="1" dirty="0">
                  <a:solidFill>
                    <a:srgbClr val="6F819C"/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1328</Words>
  <Application>Microsoft Macintosh PowerPoint</Application>
  <PresentationFormat>宽屏</PresentationFormat>
  <Paragraphs>258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Bing Sun</cp:lastModifiedBy>
  <cp:revision>2</cp:revision>
  <dcterms:created xsi:type="dcterms:W3CDTF">2026-06-13T09:12:13Z</dcterms:created>
  <dcterms:modified xsi:type="dcterms:W3CDTF">2026-06-13T11:29:01Z</dcterms:modified>
  <cp:category/>
  <cp:contentStatus/>
  <dc:language/>
</cp:coreProperties>
</file>